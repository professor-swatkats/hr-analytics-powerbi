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5" r:id="rId1"/>
  </p:sldMasterIdLst>
  <p:notesMasterIdLst>
    <p:notesMasterId r:id="rId14"/>
  </p:notesMasterIdLst>
  <p:sldIdLst>
    <p:sldId id="268" r:id="rId2"/>
    <p:sldId id="269" r:id="rId3"/>
    <p:sldId id="267" r:id="rId4"/>
    <p:sldId id="257" r:id="rId5"/>
    <p:sldId id="258" r:id="rId6"/>
    <p:sldId id="259" r:id="rId7"/>
    <p:sldId id="260" r:id="rId8"/>
    <p:sldId id="261" r:id="rId9"/>
    <p:sldId id="262" r:id="rId10"/>
    <p:sldId id="263" r:id="rId11"/>
    <p:sldId id="264"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696" autoAdjust="0"/>
  </p:normalViewPr>
  <p:slideViewPr>
    <p:cSldViewPr snapToGrid="0" snapToObjects="1">
      <p:cViewPr varScale="1">
        <p:scale>
          <a:sx n="75" d="100"/>
          <a:sy n="75" d="100"/>
        </p:scale>
        <p:origin x="166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9213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PRDA-03 HR Analytics project using MySQL + Power BI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 me begin with our key workforce metrics for FY 2020. We currently have 22,000 total employees across the organization, with 18,000 actively employed. Unfortunately, we've experienced 4,000 terminations, resulting in a termination rate of 17.7%, which is highlighted in red on our dashboard and warrants serious attention. Our workforce has an average age of 38.4 years, indicating a mature and experienced team. The average tenure stands at 14.74 years, demonstrating strong employee retention historically. These metrics provide a foundational understanding of our current workforce state and will be explored in greater detail throughout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hiring trends over the past two decades reveal important patterns in organizational growth. Starting in 2000, we had relatively modest hiring of 220 employees. We experienced significant growth in the early 2000s, with a peak of 1,122 employees hired in one year. The hiring numbers fluctuated between approximately 1,100 and 1,200 employees annually from 2002 through 2015, showing consistent organizational expansion. However, by 2020, we see a decline to 1,012 new hires. When we examine year-over-year growth percentages, we notice dramatic fluctuations—starting with 410% growth in the early 2000s, followed by periods of negative growth including minus 5% and minus 7% in recent years. This volatility in hiring patterns suggests we need to develop more consistent workforce planning strategies.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at our departmental hiring distribution, Engineering leads significantly with 6,700 hires, representing our largest operational area and a critical investment in technical capabilities. The Accounting department, which is our focus area, has hired 3,300 employees over this period. Sales and Human Resources each brought in 1,800 new hires, while Training and Services departments each added 1,700 employees. This distribution reflects our organizational priorities and the relative size of each functional area. Engineering's dominance in hiring numbers aligns with our technology-driven business model, while the substantial accounting hiring supports our financial operations and compliance requirements across the organization.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workforce demographics reveal a well-balanced organization. Gender distribution shows 50.81% male employees (11,290 individuals) and 46.46% female employees (10,320 individuals), with 610 employees identifying as non-conforming, representing 2.72% of our workforce. This near-equal gender split demonstrates our commitment to diversity. From a racial perspective, we have strong representation across multiple groups: 63,000 White employees, 36,000 employees identifying as Two or More races, and 36,000 each of Black or African American and Asian employees. Hispanic or Latino employees number 25,000, American Indian employees total 13,000, and Native Hawaiian employees comprise 12,000. Age distribution shows our largest cohort in the 25-34, 35-44, and 45-54 ranges, each with approximately 5,000-6,000 employees, with fewer employees under 25 and over 55. This age distribution suggests a predominantly mid-career workforce.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attrition analysis presents concerning trends that require immediate attention. Our termination numbers have increased dramatically from just 7 employees in 2000 to 166 employees in 2020, with a peak of 177 in one recent year. This upward trajectory is clearly visible in the red trend line on our dashboard. When examining terminations by department, Engineering has lost 1,185 employees—the highest among all departments—followed by Accounting with 586 terminations. Sales has experienced 335 terminations, Human Resources 309, and Services 293. The overall average tenure is 14.74 years, but the average tenure before leaving is notably lower at 10.44 years, suggesting we're losing employees before they reach their full potential with the organization. These metrics indicate retention challenges that need strategic intervention.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geographic distribution shows significant concentration in specific regions. Ohio dominates with 18,000 employees, representing the vast majority of our workforce. Pennsylvania follows with 1,100 employees, and Illinois—our focus state for this presentation—has 900 employees. When examining the top cities, Springfield leads with approximately 150 employees, followed by Toledo and Wiltses with around 120 employees each. The workforce location split between headquarters and remote work is notable: 75% of employees (17,000 individuals) work at headquarters locations, while 25% (5,000 employees) work remotely. This 3-to-1 ratio of headquarters to remote workers was established before the recent shift toward remote work in many organizations. Understanding this geographic distribution is crucial for resource allocation, facility planning, and considering future workplace flexibility options.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at our departmental workforce composition, we can see how gender distribution varies across functions. Engineering, our largest department, shows approximately 4,000 employees with balanced gender representation. Accounting displays roughly 3,500 employees with similar gender balance. Sales, Human Resources, Training, Services, and other departments each show between 1,000 and 2,000 employees with relatively consistent gender distribution patterns. What's particularly noteworthy is that most departments maintain close to the organizational average of 50-50 gender split, indicating that our diversity efforts are consistently applied across all functional areas rather than concentrated in specific departments. The average age by department clusters around 35-40 years across all functions, suggesting uniform career stage distribution. This consistency indicates effective HR policies that promote similar demographic profiles regardless of department function.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our workforce analysis reveals both strengths and challenges. Our strengths include strong gender and racial diversity, with near 50-50 gender split and representation across multiple racial categories. We maintain a stable, experienced workforce with 14.74 years average tenure and consistent hiring across major departments with Engineering and Accounting as anchors. However, we face significant challenges. The 17.7% termination rate is concerning and trending upward from 7 to 166 annual terminations over 20 years. We're experiencing a declining year-over-year hiring growth rate of negative 7%, and there's a 4.3-year gap between average tenure and tenure before leaving, indicating mid-career attrition. Additionally, we have geographic over-concentration in Ohio with 82% of our workforce. Moving forward, I recommend we implement retention programs targeting the 7-12 year tenure range, diversify geographic presence to reduce Ohio concentration risk, investigate root causes of the increasing termination trend particularly in Engineering, develop succession planning for our aging workforce as the 45-54 cohort nears retirement, and reassess our remote work policies given that only 25% work remotely. Thank you for your attention, and I'm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2100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193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6245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0349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3361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595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2540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76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3454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5957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9168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3156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19927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9609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85600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20390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436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21934202"/>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 id="2147483841" r:id="rId16"/>
    <p:sldLayoutId id="2147483842"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png"/><Relationship Id="rId2" Type="http://schemas.openxmlformats.org/officeDocument/2006/relationships/slideLayout" Target="../slideLayouts/slideLayout17.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6" name="Shape 4"/>
          <p:cNvSpPr/>
          <p:nvPr/>
        </p:nvSpPr>
        <p:spPr>
          <a:xfrm>
            <a:off x="384048" y="1268730"/>
            <a:ext cx="1005840" cy="1005840"/>
          </a:xfrm>
          <a:prstGeom prst="rect">
            <a:avLst/>
          </a:prstGeom>
          <a:solidFill>
            <a:srgbClr val="F2C811"/>
          </a:solidFill>
          <a:ln/>
        </p:spPr>
      </p:sp>
      <p:sp>
        <p:nvSpPr>
          <p:cNvPr id="7" name="Text 5"/>
          <p:cNvSpPr/>
          <p:nvPr/>
        </p:nvSpPr>
        <p:spPr>
          <a:xfrm>
            <a:off x="384048" y="1314450"/>
            <a:ext cx="1005840" cy="914400"/>
          </a:xfrm>
          <a:prstGeom prst="rect">
            <a:avLst/>
          </a:prstGeom>
          <a:noFill/>
          <a:ln/>
        </p:spPr>
        <p:txBody>
          <a:bodyPr wrap="square" lIns="0" tIns="0" rIns="0" bIns="0" rtlCol="0" anchor="ctr"/>
          <a:lstStyle/>
          <a:p>
            <a:pPr algn="ctr"/>
            <a:r>
              <a:rPr lang="en-US" sz="3800" dirty="0">
                <a:solidFill>
                  <a:schemeClr val="bg1"/>
                </a:solidFill>
              </a:rPr>
              <a:t>⚡</a:t>
            </a:r>
          </a:p>
        </p:txBody>
      </p:sp>
      <p:sp>
        <p:nvSpPr>
          <p:cNvPr id="8" name="Text 6"/>
          <p:cNvSpPr/>
          <p:nvPr/>
        </p:nvSpPr>
        <p:spPr>
          <a:xfrm>
            <a:off x="274320" y="2430018"/>
            <a:ext cx="3200400" cy="292608"/>
          </a:xfrm>
          <a:prstGeom prst="rect">
            <a:avLst/>
          </a:prstGeom>
          <a:noFill/>
          <a:ln/>
        </p:spPr>
        <p:txBody>
          <a:bodyPr wrap="square" lIns="0" tIns="0" rIns="0" bIns="0" rtlCol="0" anchor="ctr"/>
          <a:lstStyle/>
          <a:p>
            <a:r>
              <a:rPr lang="en-US" sz="1100" dirty="0">
                <a:solidFill>
                  <a:schemeClr val="bg1"/>
                </a:solidFill>
                <a:latin typeface="Calibri" pitchFamily="34" charset="0"/>
                <a:ea typeface="Calibri" pitchFamily="34" charset="-122"/>
                <a:cs typeface="Calibri" pitchFamily="34" charset="-120"/>
              </a:rPr>
              <a:t>PRDA · 03</a:t>
            </a:r>
            <a:endParaRPr lang="en-US" sz="1100" dirty="0">
              <a:solidFill>
                <a:schemeClr val="bg1"/>
              </a:solidFill>
            </a:endParaRPr>
          </a:p>
        </p:txBody>
      </p:sp>
      <p:sp>
        <p:nvSpPr>
          <p:cNvPr id="9" name="Text 7"/>
          <p:cNvSpPr/>
          <p:nvPr/>
        </p:nvSpPr>
        <p:spPr>
          <a:xfrm>
            <a:off x="274320" y="2731770"/>
            <a:ext cx="3200400" cy="1463040"/>
          </a:xfrm>
          <a:prstGeom prst="rect">
            <a:avLst/>
          </a:prstGeom>
          <a:noFill/>
          <a:ln/>
        </p:spPr>
        <p:txBody>
          <a:bodyPr wrap="square" lIns="0" tIns="0" rIns="0" bIns="0" rtlCol="0" anchor="ctr"/>
          <a:lstStyle/>
          <a:p>
            <a:pPr>
              <a:lnSpc>
                <a:spcPct val="105000"/>
              </a:lnSpc>
            </a:pPr>
            <a:r>
              <a:rPr lang="en-US" sz="3600" b="1" dirty="0">
                <a:solidFill>
                  <a:schemeClr val="bg1"/>
                </a:solidFill>
                <a:latin typeface="Calibri" pitchFamily="34" charset="0"/>
                <a:ea typeface="Calibri" pitchFamily="34" charset="-122"/>
                <a:cs typeface="Calibri" pitchFamily="34" charset="-120"/>
              </a:rPr>
              <a:t>HR</a:t>
            </a:r>
            <a:endParaRPr lang="en-US" sz="3600" dirty="0">
              <a:solidFill>
                <a:schemeClr val="bg1"/>
              </a:solidFill>
            </a:endParaRPr>
          </a:p>
          <a:p>
            <a:pPr>
              <a:lnSpc>
                <a:spcPct val="105000"/>
              </a:lnSpc>
            </a:pPr>
            <a:r>
              <a:rPr lang="en-US" sz="3600" b="1" dirty="0">
                <a:solidFill>
                  <a:schemeClr val="bg1"/>
                </a:solidFill>
                <a:latin typeface="Calibri" pitchFamily="34" charset="0"/>
                <a:ea typeface="Calibri" pitchFamily="34" charset="-122"/>
                <a:cs typeface="Calibri" pitchFamily="34" charset="-120"/>
              </a:rPr>
              <a:t>Analytics</a:t>
            </a:r>
            <a:endParaRPr lang="en-US" sz="3600" dirty="0">
              <a:solidFill>
                <a:schemeClr val="bg1"/>
              </a:solidFill>
            </a:endParaRPr>
          </a:p>
        </p:txBody>
      </p:sp>
      <p:sp>
        <p:nvSpPr>
          <p:cNvPr id="10" name="Text 8"/>
          <p:cNvSpPr/>
          <p:nvPr/>
        </p:nvSpPr>
        <p:spPr>
          <a:xfrm>
            <a:off x="274320" y="4286250"/>
            <a:ext cx="3200400" cy="292608"/>
          </a:xfrm>
          <a:prstGeom prst="rect">
            <a:avLst/>
          </a:prstGeom>
          <a:noFill/>
          <a:ln/>
        </p:spPr>
        <p:txBody>
          <a:bodyPr wrap="square" lIns="0" tIns="0" rIns="0" bIns="0" rtlCol="0" anchor="ctr"/>
          <a:lstStyle/>
          <a:p>
            <a:r>
              <a:rPr lang="en-US" sz="1050" dirty="0">
                <a:solidFill>
                  <a:schemeClr val="bg1"/>
                </a:solidFill>
                <a:latin typeface="Calibri" pitchFamily="34" charset="0"/>
                <a:ea typeface="Calibri" pitchFamily="34" charset="-122"/>
                <a:cs typeface="Calibri" pitchFamily="34" charset="-120"/>
              </a:rPr>
              <a:t>Power BI Dashboard Report</a:t>
            </a:r>
            <a:endParaRPr lang="en-US" sz="1050" dirty="0">
              <a:solidFill>
                <a:schemeClr val="bg1"/>
              </a:solidFill>
            </a:endParaRPr>
          </a:p>
        </p:txBody>
      </p:sp>
      <p:sp>
        <p:nvSpPr>
          <p:cNvPr id="11" name="Text 9"/>
          <p:cNvSpPr/>
          <p:nvPr/>
        </p:nvSpPr>
        <p:spPr>
          <a:xfrm>
            <a:off x="3931920" y="1680210"/>
            <a:ext cx="4937760" cy="475488"/>
          </a:xfrm>
          <a:prstGeom prst="rect">
            <a:avLst/>
          </a:prstGeom>
          <a:noFill/>
          <a:ln/>
        </p:spPr>
        <p:txBody>
          <a:bodyPr wrap="square" lIns="0" tIns="0" rIns="0" bIns="0" rtlCol="0" anchor="ctr"/>
          <a:lstStyle/>
          <a:p>
            <a:r>
              <a:rPr lang="en-US" sz="2000" b="1" dirty="0">
                <a:solidFill>
                  <a:schemeClr val="bg1"/>
                </a:solidFill>
                <a:latin typeface="Calibri" pitchFamily="34" charset="0"/>
                <a:ea typeface="Calibri" pitchFamily="34" charset="-122"/>
                <a:cs typeface="Calibri" pitchFamily="34" charset="-120"/>
              </a:rPr>
              <a:t>Workforce Overview Dashboard</a:t>
            </a:r>
            <a:endParaRPr lang="en-US" sz="2000" dirty="0">
              <a:solidFill>
                <a:schemeClr val="bg1"/>
              </a:solidFill>
            </a:endParaRPr>
          </a:p>
        </p:txBody>
      </p:sp>
      <p:sp>
        <p:nvSpPr>
          <p:cNvPr id="12" name="Text 10"/>
          <p:cNvSpPr/>
          <p:nvPr/>
        </p:nvSpPr>
        <p:spPr>
          <a:xfrm>
            <a:off x="3931920" y="2228850"/>
            <a:ext cx="4937760" cy="685800"/>
          </a:xfrm>
          <a:prstGeom prst="rect">
            <a:avLst/>
          </a:prstGeom>
          <a:noFill/>
          <a:ln/>
        </p:spPr>
        <p:txBody>
          <a:bodyPr wrap="square" lIns="0" tIns="0" rIns="0" bIns="0" rtlCol="0" anchor="ctr"/>
          <a:lstStyle/>
          <a:p>
            <a:pPr>
              <a:lnSpc>
                <a:spcPct val="150000"/>
              </a:lnSpc>
            </a:pPr>
            <a:r>
              <a:rPr lang="en-US" sz="1200" dirty="0">
                <a:solidFill>
                  <a:schemeClr val="bg1"/>
                </a:solidFill>
                <a:latin typeface="Calibri" pitchFamily="34" charset="0"/>
                <a:ea typeface="Calibri" pitchFamily="34" charset="-122"/>
                <a:cs typeface="Calibri" pitchFamily="34" charset="-120"/>
              </a:rPr>
              <a:t>Analyzing 22,214 Employee Records</a:t>
            </a:r>
            <a:endParaRPr lang="en-US" sz="1200" dirty="0">
              <a:solidFill>
                <a:schemeClr val="bg1"/>
              </a:solidFill>
            </a:endParaRPr>
          </a:p>
          <a:p>
            <a:pPr>
              <a:lnSpc>
                <a:spcPct val="150000"/>
              </a:lnSpc>
            </a:pPr>
            <a:r>
              <a:rPr lang="en-US" sz="1200" dirty="0">
                <a:solidFill>
                  <a:schemeClr val="bg1"/>
                </a:solidFill>
                <a:latin typeface="Calibri" pitchFamily="34" charset="0"/>
                <a:ea typeface="Calibri" pitchFamily="34" charset="-122"/>
                <a:cs typeface="Calibri" pitchFamily="34" charset="-120"/>
              </a:rPr>
              <a:t>MySQL  ·  Power Query  ·  DAX  ·  Power BI</a:t>
            </a:r>
            <a:endParaRPr lang="en-US" sz="1200" dirty="0">
              <a:solidFill>
                <a:schemeClr val="bg1"/>
              </a:solidFill>
            </a:endParaRPr>
          </a:p>
        </p:txBody>
      </p:sp>
      <p:sp>
        <p:nvSpPr>
          <p:cNvPr id="22" name="Shape 20"/>
          <p:cNvSpPr/>
          <p:nvPr/>
        </p:nvSpPr>
        <p:spPr>
          <a:xfrm>
            <a:off x="3931920" y="5337810"/>
            <a:ext cx="1143000" cy="274320"/>
          </a:xfrm>
          <a:prstGeom prst="rect">
            <a:avLst/>
          </a:prstGeom>
          <a:solidFill>
            <a:srgbClr val="1565C0">
              <a:alpha val="65000"/>
            </a:srgbClr>
          </a:solidFill>
          <a:ln/>
        </p:spPr>
      </p:sp>
      <p:sp>
        <p:nvSpPr>
          <p:cNvPr id="23" name="Text 21"/>
          <p:cNvSpPr/>
          <p:nvPr/>
        </p:nvSpPr>
        <p:spPr>
          <a:xfrm>
            <a:off x="3931920" y="5337810"/>
            <a:ext cx="1143000" cy="274320"/>
          </a:xfrm>
          <a:prstGeom prst="rect">
            <a:avLst/>
          </a:prstGeom>
          <a:noFill/>
          <a:ln/>
        </p:spPr>
        <p:txBody>
          <a:bodyPr wrap="square" lIns="0" tIns="0" rIns="0" bIns="0" rtlCol="0" anchor="ctr"/>
          <a:lstStyle/>
          <a:p>
            <a:pPr algn="ctr"/>
            <a:r>
              <a:rPr lang="en-US" sz="850" dirty="0">
                <a:solidFill>
                  <a:schemeClr val="bg1"/>
                </a:solidFill>
                <a:latin typeface="Calibri" pitchFamily="34" charset="0"/>
                <a:ea typeface="Calibri" pitchFamily="34" charset="-122"/>
                <a:cs typeface="Calibri" pitchFamily="34" charset="-120"/>
              </a:rPr>
              <a:t>MySQL</a:t>
            </a:r>
            <a:endParaRPr lang="en-US" sz="850" dirty="0">
              <a:solidFill>
                <a:schemeClr val="bg1"/>
              </a:solidFill>
            </a:endParaRPr>
          </a:p>
        </p:txBody>
      </p:sp>
      <p:sp>
        <p:nvSpPr>
          <p:cNvPr id="24" name="Shape 22"/>
          <p:cNvSpPr/>
          <p:nvPr/>
        </p:nvSpPr>
        <p:spPr>
          <a:xfrm>
            <a:off x="5175504" y="5337810"/>
            <a:ext cx="1143000" cy="274320"/>
          </a:xfrm>
          <a:prstGeom prst="rect">
            <a:avLst/>
          </a:prstGeom>
          <a:solidFill>
            <a:srgbClr val="1565C0">
              <a:alpha val="65000"/>
            </a:srgbClr>
          </a:solidFill>
          <a:ln/>
        </p:spPr>
      </p:sp>
      <p:sp>
        <p:nvSpPr>
          <p:cNvPr id="25" name="Text 23"/>
          <p:cNvSpPr/>
          <p:nvPr/>
        </p:nvSpPr>
        <p:spPr>
          <a:xfrm>
            <a:off x="5175504" y="5337810"/>
            <a:ext cx="1143000" cy="274320"/>
          </a:xfrm>
          <a:prstGeom prst="rect">
            <a:avLst/>
          </a:prstGeom>
          <a:noFill/>
          <a:ln/>
        </p:spPr>
        <p:txBody>
          <a:bodyPr wrap="square" lIns="0" tIns="0" rIns="0" bIns="0" rtlCol="0" anchor="ctr"/>
          <a:lstStyle/>
          <a:p>
            <a:pPr algn="ctr"/>
            <a:r>
              <a:rPr lang="en-US" sz="850" dirty="0">
                <a:solidFill>
                  <a:schemeClr val="bg1"/>
                </a:solidFill>
                <a:latin typeface="Calibri" pitchFamily="34" charset="0"/>
                <a:ea typeface="Calibri" pitchFamily="34" charset="-122"/>
                <a:cs typeface="Calibri" pitchFamily="34" charset="-120"/>
              </a:rPr>
              <a:t>Power BI</a:t>
            </a:r>
            <a:endParaRPr lang="en-US" sz="850" dirty="0">
              <a:solidFill>
                <a:schemeClr val="bg1"/>
              </a:solidFill>
            </a:endParaRPr>
          </a:p>
        </p:txBody>
      </p:sp>
      <p:sp>
        <p:nvSpPr>
          <p:cNvPr id="26" name="Shape 24"/>
          <p:cNvSpPr/>
          <p:nvPr/>
        </p:nvSpPr>
        <p:spPr>
          <a:xfrm>
            <a:off x="6419088" y="5337810"/>
            <a:ext cx="1143000" cy="274320"/>
          </a:xfrm>
          <a:prstGeom prst="rect">
            <a:avLst/>
          </a:prstGeom>
          <a:solidFill>
            <a:srgbClr val="1565C0">
              <a:alpha val="65000"/>
            </a:srgbClr>
          </a:solidFill>
          <a:ln/>
        </p:spPr>
      </p:sp>
      <p:sp>
        <p:nvSpPr>
          <p:cNvPr id="27" name="Text 25"/>
          <p:cNvSpPr/>
          <p:nvPr/>
        </p:nvSpPr>
        <p:spPr>
          <a:xfrm>
            <a:off x="6419088" y="5337810"/>
            <a:ext cx="1143000" cy="274320"/>
          </a:xfrm>
          <a:prstGeom prst="rect">
            <a:avLst/>
          </a:prstGeom>
          <a:noFill/>
          <a:ln/>
        </p:spPr>
        <p:txBody>
          <a:bodyPr wrap="square" lIns="0" tIns="0" rIns="0" bIns="0" rtlCol="0" anchor="ctr"/>
          <a:lstStyle/>
          <a:p>
            <a:pPr algn="ctr"/>
            <a:r>
              <a:rPr lang="en-US" sz="850" dirty="0">
                <a:solidFill>
                  <a:schemeClr val="bg1"/>
                </a:solidFill>
                <a:latin typeface="Calibri" pitchFamily="34" charset="0"/>
                <a:ea typeface="Calibri" pitchFamily="34" charset="-122"/>
                <a:cs typeface="Calibri" pitchFamily="34" charset="-120"/>
              </a:rPr>
              <a:t>HR Analytics</a:t>
            </a:r>
            <a:endParaRPr lang="en-US" sz="850" dirty="0">
              <a:solidFill>
                <a:schemeClr val="bg1"/>
              </a:solidFill>
            </a:endParaRPr>
          </a:p>
        </p:txBody>
      </p:sp>
      <p:sp>
        <p:nvSpPr>
          <p:cNvPr id="28" name="Shape 26"/>
          <p:cNvSpPr/>
          <p:nvPr/>
        </p:nvSpPr>
        <p:spPr>
          <a:xfrm>
            <a:off x="7662672" y="5337810"/>
            <a:ext cx="1143000" cy="274320"/>
          </a:xfrm>
          <a:prstGeom prst="rect">
            <a:avLst/>
          </a:prstGeom>
          <a:solidFill>
            <a:srgbClr val="1565C0">
              <a:alpha val="65000"/>
            </a:srgbClr>
          </a:solidFill>
          <a:ln/>
        </p:spPr>
      </p:sp>
      <p:sp>
        <p:nvSpPr>
          <p:cNvPr id="29" name="Text 27"/>
          <p:cNvSpPr/>
          <p:nvPr/>
        </p:nvSpPr>
        <p:spPr>
          <a:xfrm>
            <a:off x="7662672" y="5337810"/>
            <a:ext cx="1143000" cy="274320"/>
          </a:xfrm>
          <a:prstGeom prst="rect">
            <a:avLst/>
          </a:prstGeom>
          <a:noFill/>
          <a:ln/>
        </p:spPr>
        <p:txBody>
          <a:bodyPr wrap="square" lIns="0" tIns="0" rIns="0" bIns="0" rtlCol="0" anchor="ctr"/>
          <a:lstStyle/>
          <a:p>
            <a:pPr algn="ctr"/>
            <a:r>
              <a:rPr lang="en-US" sz="850" dirty="0">
                <a:solidFill>
                  <a:schemeClr val="bg1"/>
                </a:solidFill>
                <a:latin typeface="Calibri" pitchFamily="34" charset="0"/>
                <a:ea typeface="Calibri" pitchFamily="34" charset="-122"/>
                <a:cs typeface="Calibri" pitchFamily="34" charset="-120"/>
              </a:rPr>
              <a:t>FY 2000–2020</a:t>
            </a:r>
            <a:endParaRPr lang="en-US" sz="850" dirty="0">
              <a:solidFill>
                <a:schemeClr val="bg1"/>
              </a:solidFill>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5" name="Text 3"/>
          <p:cNvSpPr/>
          <p:nvPr/>
        </p:nvSpPr>
        <p:spPr>
          <a:xfrm>
            <a:off x="333756" y="358902"/>
            <a:ext cx="8503920" cy="493776"/>
          </a:xfrm>
          <a:prstGeom prst="rect">
            <a:avLst/>
          </a:prstGeom>
          <a:noFill/>
          <a:ln/>
        </p:spPr>
        <p:txBody>
          <a:bodyPr wrap="square" lIns="0" tIns="0" rIns="0" bIns="0" rtlCol="0" anchor="ctr"/>
          <a:lstStyle/>
          <a:p>
            <a:r>
              <a:rPr lang="en-US" sz="2600" b="1" dirty="0">
                <a:solidFill>
                  <a:schemeClr val="bg1"/>
                </a:solidFill>
                <a:latin typeface="Calibri" pitchFamily="34" charset="0"/>
                <a:ea typeface="Calibri" pitchFamily="34" charset="-122"/>
                <a:cs typeface="Calibri" pitchFamily="34" charset="-120"/>
              </a:rPr>
              <a:t>Introduction</a:t>
            </a:r>
            <a:endParaRPr lang="en-US" sz="2600" dirty="0">
              <a:solidFill>
                <a:schemeClr val="bg1"/>
              </a:solidFill>
            </a:endParaRPr>
          </a:p>
        </p:txBody>
      </p:sp>
      <p:sp>
        <p:nvSpPr>
          <p:cNvPr id="6" name="Text 4"/>
          <p:cNvSpPr/>
          <p:nvPr/>
        </p:nvSpPr>
        <p:spPr>
          <a:xfrm>
            <a:off x="347472" y="844844"/>
            <a:ext cx="8503920" cy="256032"/>
          </a:xfrm>
          <a:prstGeom prst="rect">
            <a:avLst/>
          </a:prstGeom>
          <a:noFill/>
          <a:ln/>
        </p:spPr>
        <p:txBody>
          <a:bodyPr wrap="square" lIns="0" tIns="0" rIns="0" bIns="0" rtlCol="0" anchor="ctr"/>
          <a:lstStyle/>
          <a:p>
            <a:r>
              <a:rPr lang="en-US" sz="1100" dirty="0">
                <a:solidFill>
                  <a:schemeClr val="bg1"/>
                </a:solidFill>
                <a:latin typeface="Calibri" pitchFamily="34" charset="0"/>
                <a:ea typeface="Calibri" pitchFamily="34" charset="-122"/>
                <a:cs typeface="Calibri" pitchFamily="34" charset="-120"/>
              </a:rPr>
              <a:t>Background &amp; project context</a:t>
            </a:r>
            <a:endParaRPr lang="en-US" sz="1100" dirty="0">
              <a:solidFill>
                <a:schemeClr val="bg1"/>
              </a:solidFill>
            </a:endParaRPr>
          </a:p>
        </p:txBody>
      </p:sp>
      <p:sp>
        <p:nvSpPr>
          <p:cNvPr id="10" name="Text 8"/>
          <p:cNvSpPr/>
          <p:nvPr/>
        </p:nvSpPr>
        <p:spPr>
          <a:xfrm>
            <a:off x="347472" y="1295903"/>
            <a:ext cx="3657600" cy="384048"/>
          </a:xfrm>
          <a:prstGeom prst="rect">
            <a:avLst/>
          </a:prstGeom>
          <a:noFill/>
          <a:ln/>
        </p:spPr>
        <p:txBody>
          <a:bodyPr wrap="square" lIns="0" tIns="0" rIns="0" bIns="0" rtlCol="0" anchor="ctr"/>
          <a:lstStyle/>
          <a:p>
            <a:r>
              <a:rPr lang="en-US" sz="1250" b="1" dirty="0">
                <a:solidFill>
                  <a:schemeClr val="bg1"/>
                </a:solidFill>
                <a:latin typeface="Calibri" pitchFamily="34" charset="0"/>
                <a:ea typeface="Calibri" pitchFamily="34" charset="-122"/>
                <a:cs typeface="Calibri" pitchFamily="34" charset="-120"/>
              </a:rPr>
              <a:t>What is HR Analytics?</a:t>
            </a:r>
            <a:endParaRPr lang="en-US" sz="1250" dirty="0">
              <a:solidFill>
                <a:schemeClr val="bg1"/>
              </a:solidFill>
            </a:endParaRPr>
          </a:p>
        </p:txBody>
      </p:sp>
      <p:sp>
        <p:nvSpPr>
          <p:cNvPr id="11" name="Text 9"/>
          <p:cNvSpPr/>
          <p:nvPr/>
        </p:nvSpPr>
        <p:spPr>
          <a:xfrm>
            <a:off x="384048" y="1776222"/>
            <a:ext cx="3657600" cy="3246120"/>
          </a:xfrm>
          <a:prstGeom prst="rect">
            <a:avLst/>
          </a:prstGeom>
          <a:noFill/>
          <a:ln/>
        </p:spPr>
        <p:txBody>
          <a:bodyPr wrap="square" lIns="0" tIns="0" rIns="0" bIns="0" rtlCol="0" anchor="t"/>
          <a:lstStyle/>
          <a:p>
            <a:pPr>
              <a:lnSpc>
                <a:spcPct val="142000"/>
              </a:lnSpc>
            </a:pPr>
            <a:r>
              <a:rPr lang="en-US" sz="1400" dirty="0">
                <a:solidFill>
                  <a:schemeClr val="bg1"/>
                </a:solidFill>
                <a:latin typeface="Calibri" pitchFamily="34" charset="0"/>
                <a:ea typeface="Calibri" pitchFamily="34" charset="-122"/>
                <a:cs typeface="Calibri" pitchFamily="34" charset="-120"/>
              </a:rPr>
              <a:t>Human Resource (HR) Analytics is the process of collecting, analyzing, and interpreting workforce data to support informed business decisions.</a:t>
            </a:r>
            <a:endParaRPr lang="en-US" sz="1400" dirty="0">
              <a:solidFill>
                <a:schemeClr val="bg1"/>
              </a:solidFill>
            </a:endParaRPr>
          </a:p>
          <a:p>
            <a:pPr>
              <a:lnSpc>
                <a:spcPct val="142000"/>
              </a:lnSpc>
            </a:pPr>
            <a:r>
              <a:rPr lang="en-US" sz="1400" dirty="0">
                <a:solidFill>
                  <a:schemeClr val="bg1"/>
                </a:solidFill>
                <a:latin typeface="Calibri" pitchFamily="34" charset="0"/>
                <a:ea typeface="Calibri" pitchFamily="34" charset="-122"/>
                <a:cs typeface="Calibri" pitchFamily="34" charset="-120"/>
              </a:rPr>
              <a:t>It helps organizations understand employee demographics, workforce trends, hiring patterns, and diversity — improving strategic planning and operational efficiency.</a:t>
            </a:r>
            <a:endParaRPr lang="en-US" sz="1400" dirty="0">
              <a:solidFill>
                <a:schemeClr val="bg1"/>
              </a:solidFill>
            </a:endParaRPr>
          </a:p>
          <a:p>
            <a:pPr>
              <a:lnSpc>
                <a:spcPct val="142000"/>
              </a:lnSpc>
            </a:pPr>
            <a:endParaRPr lang="en-US" sz="1400" dirty="0">
              <a:solidFill>
                <a:schemeClr val="bg1"/>
              </a:solidFill>
            </a:endParaRPr>
          </a:p>
          <a:p>
            <a:pPr>
              <a:lnSpc>
                <a:spcPct val="142000"/>
              </a:lnSpc>
            </a:pPr>
            <a:r>
              <a:rPr lang="en-US" sz="1400" dirty="0">
                <a:solidFill>
                  <a:schemeClr val="bg1"/>
                </a:solidFill>
                <a:latin typeface="Calibri" pitchFamily="34" charset="0"/>
                <a:ea typeface="Calibri" pitchFamily="34" charset="-122"/>
                <a:cs typeface="Calibri" pitchFamily="34" charset="-120"/>
              </a:rPr>
              <a:t>By turning raw HR data into insights, organizations make evidence-based decisions that enhance workforce management and overall performance.</a:t>
            </a:r>
            <a:endParaRPr lang="en-US" sz="1400" dirty="0">
              <a:solidFill>
                <a:schemeClr val="bg1"/>
              </a:solidFill>
            </a:endParaRPr>
          </a:p>
        </p:txBody>
      </p:sp>
      <p:sp>
        <p:nvSpPr>
          <p:cNvPr id="13" name="Text 11"/>
          <p:cNvSpPr/>
          <p:nvPr/>
        </p:nvSpPr>
        <p:spPr>
          <a:xfrm>
            <a:off x="4663440" y="1369055"/>
            <a:ext cx="4023360" cy="310896"/>
          </a:xfrm>
          <a:prstGeom prst="rect">
            <a:avLst/>
          </a:prstGeom>
          <a:noFill/>
          <a:ln/>
        </p:spPr>
        <p:txBody>
          <a:bodyPr wrap="square" lIns="0" tIns="0" rIns="0" bIns="0" rtlCol="0" anchor="ctr"/>
          <a:lstStyle/>
          <a:p>
            <a:r>
              <a:rPr lang="en-US" sz="1400" b="1" dirty="0">
                <a:solidFill>
                  <a:schemeClr val="bg1"/>
                </a:solidFill>
                <a:latin typeface="Calibri" pitchFamily="34" charset="0"/>
                <a:ea typeface="Calibri" pitchFamily="34" charset="-122"/>
                <a:cs typeface="Calibri" pitchFamily="34" charset="-120"/>
              </a:rPr>
              <a:t>This Project: PRDA 03</a:t>
            </a:r>
            <a:endParaRPr lang="en-US" sz="1400" dirty="0">
              <a:solidFill>
                <a:schemeClr val="bg1"/>
              </a:solidFill>
            </a:endParaRPr>
          </a:p>
        </p:txBody>
      </p:sp>
      <p:sp>
        <p:nvSpPr>
          <p:cNvPr id="14" name="Text 12"/>
          <p:cNvSpPr/>
          <p:nvPr/>
        </p:nvSpPr>
        <p:spPr>
          <a:xfrm>
            <a:off x="4663440" y="1754714"/>
            <a:ext cx="347472" cy="365760"/>
          </a:xfrm>
          <a:prstGeom prst="rect">
            <a:avLst/>
          </a:prstGeom>
          <a:noFill/>
          <a:ln/>
        </p:spPr>
        <p:txBody>
          <a:bodyPr wrap="square" lIns="0" tIns="0" rIns="0" bIns="0" rtlCol="0" anchor="ctr"/>
          <a:lstStyle/>
          <a:p>
            <a:pPr algn="ctr"/>
            <a:r>
              <a:rPr lang="en-US" sz="1400" dirty="0">
                <a:solidFill>
                  <a:schemeClr val="bg1"/>
                </a:solidFill>
              </a:rPr>
              <a:t>📊</a:t>
            </a:r>
          </a:p>
        </p:txBody>
      </p:sp>
      <p:sp>
        <p:nvSpPr>
          <p:cNvPr id="15" name="Text 13"/>
          <p:cNvSpPr/>
          <p:nvPr/>
        </p:nvSpPr>
        <p:spPr>
          <a:xfrm>
            <a:off x="5047488" y="1799073"/>
            <a:ext cx="3657600" cy="347472"/>
          </a:xfrm>
          <a:prstGeom prst="rect">
            <a:avLst/>
          </a:prstGeom>
          <a:noFill/>
          <a:ln/>
        </p:spPr>
        <p:txBody>
          <a:bodyPr wrap="square" lIns="0" tIns="0" rIns="0" bIns="0" rtlCol="0" anchor="ctr"/>
          <a:lstStyle/>
          <a:p>
            <a:pPr>
              <a:lnSpc>
                <a:spcPct val="120000"/>
              </a:lnSpc>
            </a:pPr>
            <a:r>
              <a:rPr lang="en-US" sz="1400" dirty="0">
                <a:solidFill>
                  <a:schemeClr val="bg1"/>
                </a:solidFill>
                <a:latin typeface="Calibri" pitchFamily="34" charset="0"/>
                <a:ea typeface="Calibri" pitchFamily="34" charset="-122"/>
                <a:cs typeface="Calibri" pitchFamily="34" charset="-120"/>
              </a:rPr>
              <a:t>Analyzes employee data using MySQL + Microsoft Power BI</a:t>
            </a:r>
            <a:endParaRPr lang="en-US" sz="1400" dirty="0">
              <a:solidFill>
                <a:schemeClr val="bg1"/>
              </a:solidFill>
            </a:endParaRPr>
          </a:p>
        </p:txBody>
      </p:sp>
      <p:sp>
        <p:nvSpPr>
          <p:cNvPr id="16" name="Text 14"/>
          <p:cNvSpPr/>
          <p:nvPr/>
        </p:nvSpPr>
        <p:spPr>
          <a:xfrm>
            <a:off x="4663440" y="2211914"/>
            <a:ext cx="347472" cy="365760"/>
          </a:xfrm>
          <a:prstGeom prst="rect">
            <a:avLst/>
          </a:prstGeom>
          <a:noFill/>
          <a:ln/>
        </p:spPr>
        <p:txBody>
          <a:bodyPr wrap="square" lIns="0" tIns="0" rIns="0" bIns="0" rtlCol="0" anchor="ctr"/>
          <a:lstStyle/>
          <a:p>
            <a:pPr algn="ctr"/>
            <a:r>
              <a:rPr lang="en-US" sz="1400" dirty="0">
                <a:solidFill>
                  <a:schemeClr val="bg1"/>
                </a:solidFill>
              </a:rPr>
              <a:t>👥</a:t>
            </a:r>
          </a:p>
        </p:txBody>
      </p:sp>
      <p:sp>
        <p:nvSpPr>
          <p:cNvPr id="17" name="Text 15"/>
          <p:cNvSpPr/>
          <p:nvPr/>
        </p:nvSpPr>
        <p:spPr>
          <a:xfrm>
            <a:off x="5047488" y="2247807"/>
            <a:ext cx="3657600" cy="347472"/>
          </a:xfrm>
          <a:prstGeom prst="rect">
            <a:avLst/>
          </a:prstGeom>
          <a:noFill/>
          <a:ln/>
        </p:spPr>
        <p:txBody>
          <a:bodyPr wrap="square" lIns="0" tIns="0" rIns="0" bIns="0" rtlCol="0" anchor="ctr"/>
          <a:lstStyle/>
          <a:p>
            <a:pPr>
              <a:lnSpc>
                <a:spcPct val="120000"/>
              </a:lnSpc>
            </a:pPr>
            <a:r>
              <a:rPr lang="en-US" sz="1400" dirty="0">
                <a:solidFill>
                  <a:schemeClr val="bg1"/>
                </a:solidFill>
                <a:latin typeface="Calibri" pitchFamily="34" charset="0"/>
                <a:ea typeface="Calibri" pitchFamily="34" charset="-122"/>
                <a:cs typeface="Calibri" pitchFamily="34" charset="-120"/>
              </a:rPr>
              <a:t>Dataset: 22,214 employees · 14 data attributes</a:t>
            </a:r>
            <a:endParaRPr lang="en-US" sz="1400" dirty="0">
              <a:solidFill>
                <a:schemeClr val="bg1"/>
              </a:solidFill>
            </a:endParaRPr>
          </a:p>
        </p:txBody>
      </p:sp>
      <p:sp>
        <p:nvSpPr>
          <p:cNvPr id="18" name="Text 16"/>
          <p:cNvSpPr/>
          <p:nvPr/>
        </p:nvSpPr>
        <p:spPr>
          <a:xfrm>
            <a:off x="4663440" y="2669114"/>
            <a:ext cx="347472" cy="365760"/>
          </a:xfrm>
          <a:prstGeom prst="rect">
            <a:avLst/>
          </a:prstGeom>
          <a:noFill/>
          <a:ln/>
        </p:spPr>
        <p:txBody>
          <a:bodyPr wrap="square" lIns="0" tIns="0" rIns="0" bIns="0" rtlCol="0" anchor="ctr"/>
          <a:lstStyle/>
          <a:p>
            <a:pPr algn="ctr"/>
            <a:r>
              <a:rPr lang="en-US" sz="1400" dirty="0">
                <a:solidFill>
                  <a:schemeClr val="bg1"/>
                </a:solidFill>
              </a:rPr>
              <a:t>🗓️</a:t>
            </a:r>
          </a:p>
        </p:txBody>
      </p:sp>
      <p:sp>
        <p:nvSpPr>
          <p:cNvPr id="19" name="Text 17"/>
          <p:cNvSpPr/>
          <p:nvPr/>
        </p:nvSpPr>
        <p:spPr>
          <a:xfrm>
            <a:off x="5047488" y="2730411"/>
            <a:ext cx="3657600" cy="347472"/>
          </a:xfrm>
          <a:prstGeom prst="rect">
            <a:avLst/>
          </a:prstGeom>
          <a:noFill/>
          <a:ln/>
        </p:spPr>
        <p:txBody>
          <a:bodyPr wrap="square" lIns="0" tIns="0" rIns="0" bIns="0" rtlCol="0" anchor="ctr"/>
          <a:lstStyle/>
          <a:p>
            <a:pPr>
              <a:lnSpc>
                <a:spcPct val="120000"/>
              </a:lnSpc>
            </a:pPr>
            <a:r>
              <a:rPr lang="en-US" sz="1400" dirty="0">
                <a:solidFill>
                  <a:schemeClr val="bg1"/>
                </a:solidFill>
                <a:latin typeface="Calibri" pitchFamily="34" charset="0"/>
                <a:ea typeface="Calibri" pitchFamily="34" charset="-122"/>
                <a:cs typeface="Calibri" pitchFamily="34" charset="-120"/>
              </a:rPr>
              <a:t>Covers age, gender, race, department, hire &amp; term dates</a:t>
            </a:r>
            <a:endParaRPr lang="en-US" sz="1400" dirty="0">
              <a:solidFill>
                <a:schemeClr val="bg1"/>
              </a:solidFill>
            </a:endParaRPr>
          </a:p>
        </p:txBody>
      </p:sp>
      <p:sp>
        <p:nvSpPr>
          <p:cNvPr id="20" name="Text 18"/>
          <p:cNvSpPr/>
          <p:nvPr/>
        </p:nvSpPr>
        <p:spPr>
          <a:xfrm>
            <a:off x="4663440" y="3126314"/>
            <a:ext cx="347472" cy="365760"/>
          </a:xfrm>
          <a:prstGeom prst="rect">
            <a:avLst/>
          </a:prstGeom>
          <a:noFill/>
          <a:ln/>
        </p:spPr>
        <p:txBody>
          <a:bodyPr wrap="square" lIns="0" tIns="0" rIns="0" bIns="0" rtlCol="0" anchor="ctr"/>
          <a:lstStyle/>
          <a:p>
            <a:pPr algn="ctr"/>
            <a:endParaRPr lang="en-US" sz="1400" dirty="0">
              <a:solidFill>
                <a:schemeClr val="bg1"/>
              </a:solidFill>
            </a:endParaRPr>
          </a:p>
        </p:txBody>
      </p:sp>
      <p:sp>
        <p:nvSpPr>
          <p:cNvPr id="21" name="Text 19"/>
          <p:cNvSpPr/>
          <p:nvPr/>
        </p:nvSpPr>
        <p:spPr>
          <a:xfrm>
            <a:off x="5047488" y="3856482"/>
            <a:ext cx="3657600" cy="347472"/>
          </a:xfrm>
          <a:prstGeom prst="rect">
            <a:avLst/>
          </a:prstGeom>
          <a:noFill/>
          <a:ln/>
        </p:spPr>
        <p:txBody>
          <a:bodyPr wrap="square" lIns="0" tIns="0" rIns="0" bIns="0" rtlCol="0" anchor="ctr"/>
          <a:lstStyle/>
          <a:p>
            <a:pPr>
              <a:lnSpc>
                <a:spcPct val="120000"/>
              </a:lnSpc>
            </a:pPr>
            <a:endParaRPr lang="en-US" sz="1400" dirty="0">
              <a:solidFill>
                <a:schemeClr val="bg1"/>
              </a:solidFill>
            </a:endParaRPr>
          </a:p>
        </p:txBody>
      </p:sp>
      <p:sp>
        <p:nvSpPr>
          <p:cNvPr id="22" name="Text 20"/>
          <p:cNvSpPr/>
          <p:nvPr/>
        </p:nvSpPr>
        <p:spPr>
          <a:xfrm>
            <a:off x="4663440" y="3083980"/>
            <a:ext cx="347472" cy="365760"/>
          </a:xfrm>
          <a:prstGeom prst="rect">
            <a:avLst/>
          </a:prstGeom>
          <a:noFill/>
          <a:ln/>
        </p:spPr>
        <p:txBody>
          <a:bodyPr wrap="square" lIns="0" tIns="0" rIns="0" bIns="0" rtlCol="0" anchor="ctr"/>
          <a:lstStyle/>
          <a:p>
            <a:pPr algn="ctr"/>
            <a:r>
              <a:rPr lang="en-US" sz="1400" dirty="0">
                <a:solidFill>
                  <a:schemeClr val="bg1"/>
                </a:solidFill>
              </a:rPr>
              <a:t>🗺️</a:t>
            </a:r>
          </a:p>
        </p:txBody>
      </p:sp>
      <p:sp>
        <p:nvSpPr>
          <p:cNvPr id="23" name="Text 21"/>
          <p:cNvSpPr/>
          <p:nvPr/>
        </p:nvSpPr>
        <p:spPr>
          <a:xfrm>
            <a:off x="5047488" y="3153745"/>
            <a:ext cx="3657600" cy="347472"/>
          </a:xfrm>
          <a:prstGeom prst="rect">
            <a:avLst/>
          </a:prstGeom>
          <a:noFill/>
          <a:ln/>
        </p:spPr>
        <p:txBody>
          <a:bodyPr wrap="square" lIns="0" tIns="0" rIns="0" bIns="0" rtlCol="0" anchor="ctr"/>
          <a:lstStyle/>
          <a:p>
            <a:pPr>
              <a:lnSpc>
                <a:spcPct val="120000"/>
              </a:lnSpc>
            </a:pPr>
            <a:r>
              <a:rPr lang="en-US" sz="1400" dirty="0">
                <a:solidFill>
                  <a:schemeClr val="bg1"/>
                </a:solidFill>
                <a:latin typeface="Calibri" pitchFamily="34" charset="0"/>
                <a:ea typeface="Calibri" pitchFamily="34" charset="-122"/>
                <a:cs typeface="Calibri" pitchFamily="34" charset="-120"/>
              </a:rPr>
              <a:t>Geographic analysis across 7 US states</a:t>
            </a:r>
            <a:endParaRPr lang="en-US" sz="1400" dirty="0">
              <a:solidFill>
                <a:schemeClr val="bg1"/>
              </a:solidFill>
            </a:endParaRPr>
          </a:p>
        </p:txBody>
      </p:sp>
      <p:sp>
        <p:nvSpPr>
          <p:cNvPr id="24" name="Text 22"/>
          <p:cNvSpPr/>
          <p:nvPr/>
        </p:nvSpPr>
        <p:spPr>
          <a:xfrm>
            <a:off x="4663440" y="3541170"/>
            <a:ext cx="347472" cy="365760"/>
          </a:xfrm>
          <a:prstGeom prst="rect">
            <a:avLst/>
          </a:prstGeom>
          <a:noFill/>
          <a:ln/>
        </p:spPr>
        <p:txBody>
          <a:bodyPr wrap="square" lIns="0" tIns="0" rIns="0" bIns="0" rtlCol="0" anchor="ctr"/>
          <a:lstStyle/>
          <a:p>
            <a:pPr algn="ctr"/>
            <a:r>
              <a:rPr lang="en-US" sz="1400" dirty="0">
                <a:solidFill>
                  <a:schemeClr val="bg1"/>
                </a:solidFill>
              </a:rPr>
              <a:t>💡</a:t>
            </a:r>
          </a:p>
        </p:txBody>
      </p:sp>
      <p:sp>
        <p:nvSpPr>
          <p:cNvPr id="25" name="Text 23"/>
          <p:cNvSpPr/>
          <p:nvPr/>
        </p:nvSpPr>
        <p:spPr>
          <a:xfrm>
            <a:off x="5010912" y="3552961"/>
            <a:ext cx="3657600" cy="347472"/>
          </a:xfrm>
          <a:prstGeom prst="rect">
            <a:avLst/>
          </a:prstGeom>
          <a:noFill/>
          <a:ln/>
        </p:spPr>
        <p:txBody>
          <a:bodyPr wrap="square" lIns="0" tIns="0" rIns="0" bIns="0" rtlCol="0" anchor="ctr"/>
          <a:lstStyle/>
          <a:p>
            <a:pPr>
              <a:lnSpc>
                <a:spcPct val="120000"/>
              </a:lnSpc>
            </a:pPr>
            <a:r>
              <a:rPr lang="en-US" sz="1400" dirty="0">
                <a:solidFill>
                  <a:schemeClr val="bg1"/>
                </a:solidFill>
                <a:latin typeface="Calibri" pitchFamily="34" charset="0"/>
                <a:ea typeface="Calibri" pitchFamily="34" charset="-122"/>
                <a:cs typeface="Calibri" pitchFamily="34" charset="-120"/>
              </a:rPr>
              <a:t>Provides diversity, hiring trend &amp; workforce insights</a:t>
            </a:r>
            <a:endParaRPr lang="en-US" sz="1400" dirty="0">
              <a:solidFill>
                <a:schemeClr val="bg1"/>
              </a:solidFill>
            </a:endParaRPr>
          </a:p>
        </p:txBody>
      </p:sp>
      <p:sp>
        <p:nvSpPr>
          <p:cNvPr id="26" name="Text 24"/>
          <p:cNvSpPr/>
          <p:nvPr/>
        </p:nvSpPr>
        <p:spPr>
          <a:xfrm>
            <a:off x="4663440" y="3998370"/>
            <a:ext cx="347472" cy="365760"/>
          </a:xfrm>
          <a:prstGeom prst="rect">
            <a:avLst/>
          </a:prstGeom>
          <a:noFill/>
          <a:ln/>
        </p:spPr>
        <p:txBody>
          <a:bodyPr wrap="square" lIns="0" tIns="0" rIns="0" bIns="0" rtlCol="0" anchor="ctr"/>
          <a:lstStyle/>
          <a:p>
            <a:pPr algn="ctr"/>
            <a:r>
              <a:rPr lang="en-US" sz="1400" dirty="0">
                <a:solidFill>
                  <a:schemeClr val="bg1"/>
                </a:solidFill>
              </a:rPr>
              <a:t>🎯</a:t>
            </a:r>
          </a:p>
        </p:txBody>
      </p:sp>
      <p:sp>
        <p:nvSpPr>
          <p:cNvPr id="27" name="Text 25"/>
          <p:cNvSpPr/>
          <p:nvPr/>
        </p:nvSpPr>
        <p:spPr>
          <a:xfrm>
            <a:off x="5047488" y="4006679"/>
            <a:ext cx="3657600" cy="347472"/>
          </a:xfrm>
          <a:prstGeom prst="rect">
            <a:avLst/>
          </a:prstGeom>
          <a:noFill/>
          <a:ln/>
        </p:spPr>
        <p:txBody>
          <a:bodyPr wrap="square" lIns="0" tIns="0" rIns="0" bIns="0" rtlCol="0" anchor="ctr"/>
          <a:lstStyle/>
          <a:p>
            <a:pPr>
              <a:lnSpc>
                <a:spcPct val="120000"/>
              </a:lnSpc>
            </a:pPr>
            <a:r>
              <a:rPr lang="en-US" sz="1400" dirty="0">
                <a:solidFill>
                  <a:schemeClr val="bg1"/>
                </a:solidFill>
                <a:latin typeface="Calibri" pitchFamily="34" charset="0"/>
                <a:ea typeface="Calibri" pitchFamily="34" charset="-122"/>
                <a:cs typeface="Calibri" pitchFamily="34" charset="-120"/>
              </a:rPr>
              <a:t>Supports evidence-based HR planning and decisions</a:t>
            </a:r>
            <a:endParaRPr lang="en-US" sz="1400" dirty="0">
              <a:solidFill>
                <a:schemeClr val="bg1"/>
              </a:solidFill>
            </a:endParaRPr>
          </a:p>
        </p:txBody>
      </p:sp>
      <p:sp>
        <p:nvSpPr>
          <p:cNvPr id="28" name="Shape 26"/>
          <p:cNvSpPr/>
          <p:nvPr/>
        </p:nvSpPr>
        <p:spPr>
          <a:xfrm>
            <a:off x="347472" y="5630418"/>
            <a:ext cx="8476488" cy="256032"/>
          </a:xfrm>
          <a:prstGeom prst="rect">
            <a:avLst/>
          </a:prstGeom>
          <a:solidFill>
            <a:srgbClr val="E3E8EF"/>
          </a:solidFill>
          <a:ln/>
        </p:spPr>
      </p:sp>
      <p:sp>
        <p:nvSpPr>
          <p:cNvPr id="29" name="Text 27"/>
          <p:cNvSpPr/>
          <p:nvPr/>
        </p:nvSpPr>
        <p:spPr>
          <a:xfrm>
            <a:off x="384048" y="5630418"/>
            <a:ext cx="8430768" cy="256032"/>
          </a:xfrm>
          <a:prstGeom prst="rect">
            <a:avLst/>
          </a:prstGeom>
          <a:noFill/>
          <a:ln/>
        </p:spPr>
        <p:txBody>
          <a:bodyPr wrap="square" lIns="0" tIns="0" rIns="0" bIns="0" rtlCol="0" anchor="ctr"/>
          <a:lstStyle/>
          <a:p>
            <a:pPr algn="ctr"/>
            <a:r>
              <a:rPr lang="en-US" sz="950" dirty="0">
                <a:solidFill>
                  <a:schemeClr val="bg1"/>
                </a:solidFill>
                <a:latin typeface="Calibri" pitchFamily="34" charset="0"/>
                <a:ea typeface="Calibri" pitchFamily="34" charset="-122"/>
                <a:cs typeface="Calibri" pitchFamily="34" charset="-120"/>
              </a:rPr>
              <a:t>Tools Used:  MySQL  ·  Microsoft Power BI Desktop  ·  Power Query Editor  ·  DAX (Data Analysis Expressions)</a:t>
            </a:r>
            <a:endParaRPr lang="en-US" sz="950" dirty="0">
              <a:solidFill>
                <a:schemeClr val="bg1"/>
              </a:solidFill>
            </a:endParaRP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5" name="Text 3"/>
          <p:cNvSpPr/>
          <p:nvPr/>
        </p:nvSpPr>
        <p:spPr>
          <a:xfrm>
            <a:off x="320040" y="409194"/>
            <a:ext cx="8503920" cy="493776"/>
          </a:xfrm>
          <a:prstGeom prst="rect">
            <a:avLst/>
          </a:prstGeom>
          <a:noFill/>
          <a:ln/>
        </p:spPr>
        <p:txBody>
          <a:bodyPr wrap="square" lIns="0" tIns="0" rIns="0" bIns="0" rtlCol="0" anchor="ctr"/>
          <a:lstStyle/>
          <a:p>
            <a:r>
              <a:rPr lang="en-US" sz="2600" b="1" dirty="0">
                <a:latin typeface="Calibri" pitchFamily="34" charset="0"/>
                <a:ea typeface="Calibri" pitchFamily="34" charset="-122"/>
                <a:cs typeface="Calibri" pitchFamily="34" charset="-120"/>
              </a:rPr>
              <a:t>Data Preparation</a:t>
            </a:r>
            <a:endParaRPr lang="en-US" sz="2600" dirty="0"/>
          </a:p>
        </p:txBody>
      </p:sp>
      <p:sp>
        <p:nvSpPr>
          <p:cNvPr id="6" name="Text 4"/>
          <p:cNvSpPr/>
          <p:nvPr/>
        </p:nvSpPr>
        <p:spPr>
          <a:xfrm>
            <a:off x="296672" y="819404"/>
            <a:ext cx="8503920" cy="256032"/>
          </a:xfrm>
          <a:prstGeom prst="rect">
            <a:avLst/>
          </a:prstGeom>
          <a:noFill/>
          <a:ln/>
        </p:spPr>
        <p:txBody>
          <a:bodyPr wrap="square" lIns="0" tIns="0" rIns="0" bIns="0" rtlCol="0" anchor="ctr"/>
          <a:lstStyle/>
          <a:p>
            <a:r>
              <a:rPr lang="en-US" sz="1100" dirty="0">
                <a:latin typeface="Calibri" pitchFamily="34" charset="0"/>
                <a:ea typeface="Calibri" pitchFamily="34" charset="-122"/>
                <a:cs typeface="Calibri" pitchFamily="34" charset="-120"/>
              </a:rPr>
              <a:t>ETL pipeline — Import → Quality → Transform → Load</a:t>
            </a:r>
            <a:endParaRPr lang="en-US" sz="1100" dirty="0"/>
          </a:p>
        </p:txBody>
      </p:sp>
      <p:sp>
        <p:nvSpPr>
          <p:cNvPr id="7" name="Shape 5"/>
          <p:cNvSpPr/>
          <p:nvPr/>
        </p:nvSpPr>
        <p:spPr>
          <a:xfrm>
            <a:off x="347472" y="1936242"/>
            <a:ext cx="1993392" cy="3383280"/>
          </a:xfrm>
          <a:prstGeom prst="rect">
            <a:avLst/>
          </a:prstGeom>
          <a:solidFill>
            <a:srgbClr val="FFFFFF"/>
          </a:solidFill>
          <a:ln/>
        </p:spPr>
      </p:sp>
      <p:sp>
        <p:nvSpPr>
          <p:cNvPr id="8" name="Shape 6"/>
          <p:cNvSpPr/>
          <p:nvPr/>
        </p:nvSpPr>
        <p:spPr>
          <a:xfrm>
            <a:off x="347472" y="1936242"/>
            <a:ext cx="1993392" cy="73152"/>
          </a:xfrm>
          <a:prstGeom prst="rect">
            <a:avLst/>
          </a:prstGeom>
          <a:solidFill>
            <a:srgbClr val="1565C0"/>
          </a:solidFill>
          <a:ln/>
        </p:spPr>
      </p:sp>
      <p:sp>
        <p:nvSpPr>
          <p:cNvPr id="9" name="Shape 7"/>
          <p:cNvSpPr/>
          <p:nvPr/>
        </p:nvSpPr>
        <p:spPr>
          <a:xfrm>
            <a:off x="1005840" y="2045970"/>
            <a:ext cx="658368" cy="658368"/>
          </a:xfrm>
          <a:prstGeom prst="ellipse">
            <a:avLst/>
          </a:prstGeom>
          <a:solidFill>
            <a:srgbClr val="1565C0"/>
          </a:solidFill>
          <a:ln/>
        </p:spPr>
      </p:sp>
      <p:sp>
        <p:nvSpPr>
          <p:cNvPr id="10" name="Text 8"/>
          <p:cNvSpPr/>
          <p:nvPr/>
        </p:nvSpPr>
        <p:spPr>
          <a:xfrm>
            <a:off x="1005840" y="2045970"/>
            <a:ext cx="658368" cy="658368"/>
          </a:xfrm>
          <a:prstGeom prst="rect">
            <a:avLst/>
          </a:prstGeom>
          <a:noFill/>
          <a:ln/>
        </p:spPr>
        <p:txBody>
          <a:bodyPr wrap="square" lIns="0" tIns="0" rIns="0" bIns="0" rtlCol="0" anchor="ctr"/>
          <a:lstStyle/>
          <a:p>
            <a:pPr algn="ctr"/>
            <a:r>
              <a:rPr lang="en-US" sz="2200" b="1" dirty="0">
                <a:latin typeface="Calibri" pitchFamily="34" charset="0"/>
                <a:ea typeface="Calibri" pitchFamily="34" charset="-122"/>
                <a:cs typeface="Calibri" pitchFamily="34" charset="-120"/>
              </a:rPr>
              <a:t>1</a:t>
            </a:r>
            <a:endParaRPr lang="en-US" sz="2200" dirty="0"/>
          </a:p>
        </p:txBody>
      </p:sp>
      <p:sp>
        <p:nvSpPr>
          <p:cNvPr id="11" name="Shape 9"/>
          <p:cNvSpPr/>
          <p:nvPr/>
        </p:nvSpPr>
        <p:spPr>
          <a:xfrm>
            <a:off x="1033272" y="2850642"/>
            <a:ext cx="603504" cy="603504"/>
          </a:xfrm>
          <a:prstGeom prst="ellipse">
            <a:avLst/>
          </a:prstGeom>
          <a:solidFill>
            <a:srgbClr val="1565C0">
              <a:alpha val="80000"/>
            </a:srgbClr>
          </a:solidFill>
          <a:ln/>
        </p:spPr>
      </p:sp>
      <p:pic>
        <p:nvPicPr>
          <p:cNvPr id="12" name="Image 0" descr="preencoded.png"/>
          <p:cNvPicPr>
            <a:picLocks noChangeAspect="1"/>
          </p:cNvPicPr>
          <p:nvPr/>
        </p:nvPicPr>
        <p:blipFill>
          <a:blip r:embed="rId4"/>
          <a:stretch>
            <a:fillRect/>
          </a:stretch>
        </p:blipFill>
        <p:spPr>
          <a:xfrm>
            <a:off x="1124712" y="2932938"/>
            <a:ext cx="420624" cy="420624"/>
          </a:xfrm>
          <a:prstGeom prst="rect">
            <a:avLst/>
          </a:prstGeom>
        </p:spPr>
      </p:pic>
      <p:sp>
        <p:nvSpPr>
          <p:cNvPr id="13" name="Text 10"/>
          <p:cNvSpPr/>
          <p:nvPr/>
        </p:nvSpPr>
        <p:spPr>
          <a:xfrm>
            <a:off x="438912" y="3563874"/>
            <a:ext cx="1810512" cy="274320"/>
          </a:xfrm>
          <a:prstGeom prst="rect">
            <a:avLst/>
          </a:prstGeom>
          <a:noFill/>
          <a:ln/>
        </p:spPr>
        <p:txBody>
          <a:bodyPr wrap="square" lIns="0" tIns="0" rIns="0" bIns="0" rtlCol="0" anchor="ctr"/>
          <a:lstStyle/>
          <a:p>
            <a:pPr algn="ctr"/>
            <a:r>
              <a:rPr lang="en-US" sz="1150" b="1" dirty="0">
                <a:latin typeface="Calibri" pitchFamily="34" charset="0"/>
                <a:ea typeface="Calibri" pitchFamily="34" charset="-122"/>
                <a:cs typeface="Calibri" pitchFamily="34" charset="-120"/>
              </a:rPr>
              <a:t>Data Import</a:t>
            </a:r>
            <a:endParaRPr lang="en-US" sz="1150" dirty="0"/>
          </a:p>
        </p:txBody>
      </p:sp>
      <p:sp>
        <p:nvSpPr>
          <p:cNvPr id="14" name="Text 11"/>
          <p:cNvSpPr/>
          <p:nvPr/>
        </p:nvSpPr>
        <p:spPr>
          <a:xfrm>
            <a:off x="484632" y="3893058"/>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Get Data from SQL Database</a:t>
            </a:r>
            <a:endParaRPr lang="en-US" sz="950" dirty="0"/>
          </a:p>
        </p:txBody>
      </p:sp>
      <p:sp>
        <p:nvSpPr>
          <p:cNvPr id="15" name="Text 12"/>
          <p:cNvSpPr/>
          <p:nvPr/>
        </p:nvSpPr>
        <p:spPr>
          <a:xfrm>
            <a:off x="484632" y="4240530"/>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project_hr_analytics DB</a:t>
            </a:r>
            <a:endParaRPr lang="en-US" sz="950" dirty="0"/>
          </a:p>
        </p:txBody>
      </p:sp>
      <p:sp>
        <p:nvSpPr>
          <p:cNvPr id="16" name="Text 13"/>
          <p:cNvSpPr/>
          <p:nvPr/>
        </p:nvSpPr>
        <p:spPr>
          <a:xfrm>
            <a:off x="484632" y="4588002"/>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ETL via Power Query</a:t>
            </a:r>
            <a:endParaRPr lang="en-US" sz="950" dirty="0"/>
          </a:p>
        </p:txBody>
      </p:sp>
      <p:sp>
        <p:nvSpPr>
          <p:cNvPr id="17" name="Text 14"/>
          <p:cNvSpPr/>
          <p:nvPr/>
        </p:nvSpPr>
        <p:spPr>
          <a:xfrm>
            <a:off x="484632" y="4935474"/>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HR table selected</a:t>
            </a:r>
            <a:endParaRPr lang="en-US" sz="950" dirty="0"/>
          </a:p>
        </p:txBody>
      </p:sp>
      <p:sp>
        <p:nvSpPr>
          <p:cNvPr id="18" name="Text 15"/>
          <p:cNvSpPr/>
          <p:nvPr/>
        </p:nvSpPr>
        <p:spPr>
          <a:xfrm>
            <a:off x="2267712" y="3198114"/>
            <a:ext cx="274320" cy="347472"/>
          </a:xfrm>
          <a:prstGeom prst="rect">
            <a:avLst/>
          </a:prstGeom>
          <a:noFill/>
          <a:ln/>
        </p:spPr>
        <p:txBody>
          <a:bodyPr wrap="square" lIns="0" tIns="0" rIns="0" bIns="0" rtlCol="0" anchor="ctr"/>
          <a:lstStyle/>
          <a:p>
            <a:pPr algn="ctr"/>
            <a:r>
              <a:rPr lang="en-US" dirty="0"/>
              <a:t>→</a:t>
            </a:r>
          </a:p>
        </p:txBody>
      </p:sp>
      <p:sp>
        <p:nvSpPr>
          <p:cNvPr id="19" name="Shape 16"/>
          <p:cNvSpPr/>
          <p:nvPr/>
        </p:nvSpPr>
        <p:spPr>
          <a:xfrm>
            <a:off x="2523744" y="1936242"/>
            <a:ext cx="1993392" cy="3383280"/>
          </a:xfrm>
          <a:prstGeom prst="rect">
            <a:avLst/>
          </a:prstGeom>
          <a:solidFill>
            <a:srgbClr val="FFFFFF"/>
          </a:solidFill>
          <a:ln/>
        </p:spPr>
      </p:sp>
      <p:sp>
        <p:nvSpPr>
          <p:cNvPr id="20" name="Shape 17"/>
          <p:cNvSpPr/>
          <p:nvPr/>
        </p:nvSpPr>
        <p:spPr>
          <a:xfrm>
            <a:off x="2523744" y="1936242"/>
            <a:ext cx="1993392" cy="73152"/>
          </a:xfrm>
          <a:prstGeom prst="rect">
            <a:avLst/>
          </a:prstGeom>
          <a:solidFill>
            <a:srgbClr val="6366F1"/>
          </a:solidFill>
          <a:ln/>
        </p:spPr>
      </p:sp>
      <p:sp>
        <p:nvSpPr>
          <p:cNvPr id="21" name="Shape 18"/>
          <p:cNvSpPr/>
          <p:nvPr/>
        </p:nvSpPr>
        <p:spPr>
          <a:xfrm>
            <a:off x="3182112" y="2045970"/>
            <a:ext cx="658368" cy="658368"/>
          </a:xfrm>
          <a:prstGeom prst="ellipse">
            <a:avLst/>
          </a:prstGeom>
          <a:solidFill>
            <a:srgbClr val="6366F1"/>
          </a:solidFill>
          <a:ln/>
        </p:spPr>
      </p:sp>
      <p:sp>
        <p:nvSpPr>
          <p:cNvPr id="22" name="Text 19"/>
          <p:cNvSpPr/>
          <p:nvPr/>
        </p:nvSpPr>
        <p:spPr>
          <a:xfrm>
            <a:off x="3182112" y="2045970"/>
            <a:ext cx="658368" cy="658368"/>
          </a:xfrm>
          <a:prstGeom prst="rect">
            <a:avLst/>
          </a:prstGeom>
          <a:noFill/>
          <a:ln/>
        </p:spPr>
        <p:txBody>
          <a:bodyPr wrap="square" lIns="0" tIns="0" rIns="0" bIns="0" rtlCol="0" anchor="ctr"/>
          <a:lstStyle/>
          <a:p>
            <a:pPr algn="ctr"/>
            <a:r>
              <a:rPr lang="en-US" sz="2200" b="1" dirty="0">
                <a:latin typeface="Calibri" pitchFamily="34" charset="0"/>
                <a:ea typeface="Calibri" pitchFamily="34" charset="-122"/>
                <a:cs typeface="Calibri" pitchFamily="34" charset="-120"/>
              </a:rPr>
              <a:t>2</a:t>
            </a:r>
            <a:endParaRPr lang="en-US" sz="2200" dirty="0"/>
          </a:p>
        </p:txBody>
      </p:sp>
      <p:sp>
        <p:nvSpPr>
          <p:cNvPr id="23" name="Shape 20"/>
          <p:cNvSpPr/>
          <p:nvPr/>
        </p:nvSpPr>
        <p:spPr>
          <a:xfrm>
            <a:off x="3209544" y="2850642"/>
            <a:ext cx="603504" cy="603504"/>
          </a:xfrm>
          <a:prstGeom prst="ellipse">
            <a:avLst/>
          </a:prstGeom>
          <a:solidFill>
            <a:srgbClr val="6366F1">
              <a:alpha val="80000"/>
            </a:srgbClr>
          </a:solidFill>
          <a:ln/>
        </p:spPr>
      </p:sp>
      <p:pic>
        <p:nvPicPr>
          <p:cNvPr id="24" name="Image 1" descr="preencoded.png"/>
          <p:cNvPicPr>
            <a:picLocks noChangeAspect="1"/>
          </p:cNvPicPr>
          <p:nvPr/>
        </p:nvPicPr>
        <p:blipFill>
          <a:blip r:embed="rId5"/>
          <a:stretch>
            <a:fillRect/>
          </a:stretch>
        </p:blipFill>
        <p:spPr>
          <a:xfrm>
            <a:off x="3300984" y="2932938"/>
            <a:ext cx="420624" cy="420624"/>
          </a:xfrm>
          <a:prstGeom prst="rect">
            <a:avLst/>
          </a:prstGeom>
        </p:spPr>
      </p:pic>
      <p:sp>
        <p:nvSpPr>
          <p:cNvPr id="25" name="Text 21"/>
          <p:cNvSpPr/>
          <p:nvPr/>
        </p:nvSpPr>
        <p:spPr>
          <a:xfrm>
            <a:off x="2615184" y="3563874"/>
            <a:ext cx="1810512" cy="274320"/>
          </a:xfrm>
          <a:prstGeom prst="rect">
            <a:avLst/>
          </a:prstGeom>
          <a:noFill/>
          <a:ln/>
        </p:spPr>
        <p:txBody>
          <a:bodyPr wrap="square" lIns="0" tIns="0" rIns="0" bIns="0" rtlCol="0" anchor="ctr"/>
          <a:lstStyle/>
          <a:p>
            <a:pPr algn="ctr"/>
            <a:r>
              <a:rPr lang="en-US" sz="1150" b="1" dirty="0">
                <a:latin typeface="Calibri" pitchFamily="34" charset="0"/>
                <a:ea typeface="Calibri" pitchFamily="34" charset="-122"/>
                <a:cs typeface="Calibri" pitchFamily="34" charset="-120"/>
              </a:rPr>
              <a:t>Quality Assessment</a:t>
            </a:r>
            <a:endParaRPr lang="en-US" sz="1150" dirty="0"/>
          </a:p>
        </p:txBody>
      </p:sp>
      <p:sp>
        <p:nvSpPr>
          <p:cNvPr id="26" name="Text 22"/>
          <p:cNvSpPr/>
          <p:nvPr/>
        </p:nvSpPr>
        <p:spPr>
          <a:xfrm>
            <a:off x="2660904" y="3893058"/>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Column Quality check</a:t>
            </a:r>
            <a:endParaRPr lang="en-US" sz="950" dirty="0"/>
          </a:p>
        </p:txBody>
      </p:sp>
      <p:sp>
        <p:nvSpPr>
          <p:cNvPr id="27" name="Text 23"/>
          <p:cNvSpPr/>
          <p:nvPr/>
        </p:nvSpPr>
        <p:spPr>
          <a:xfrm>
            <a:off x="2660904" y="4240530"/>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Column Distribution</a:t>
            </a:r>
            <a:endParaRPr lang="en-US" sz="950" dirty="0"/>
          </a:p>
        </p:txBody>
      </p:sp>
      <p:sp>
        <p:nvSpPr>
          <p:cNvPr id="28" name="Text 24"/>
          <p:cNvSpPr/>
          <p:nvPr/>
        </p:nvSpPr>
        <p:spPr>
          <a:xfrm>
            <a:off x="2660904" y="4588002"/>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Column Profile</a:t>
            </a:r>
            <a:endParaRPr lang="en-US" sz="950" dirty="0"/>
          </a:p>
        </p:txBody>
      </p:sp>
      <p:sp>
        <p:nvSpPr>
          <p:cNvPr id="29" name="Text 25"/>
          <p:cNvSpPr/>
          <p:nvPr/>
        </p:nvSpPr>
        <p:spPr>
          <a:xfrm>
            <a:off x="2660904" y="4935474"/>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No errors found</a:t>
            </a:r>
            <a:endParaRPr lang="en-US" sz="950" dirty="0"/>
          </a:p>
        </p:txBody>
      </p:sp>
      <p:sp>
        <p:nvSpPr>
          <p:cNvPr id="30" name="Text 26"/>
          <p:cNvSpPr/>
          <p:nvPr/>
        </p:nvSpPr>
        <p:spPr>
          <a:xfrm>
            <a:off x="4443984" y="3198114"/>
            <a:ext cx="274320" cy="347472"/>
          </a:xfrm>
          <a:prstGeom prst="rect">
            <a:avLst/>
          </a:prstGeom>
          <a:noFill/>
          <a:ln/>
        </p:spPr>
        <p:txBody>
          <a:bodyPr wrap="square" lIns="0" tIns="0" rIns="0" bIns="0" rtlCol="0" anchor="ctr"/>
          <a:lstStyle/>
          <a:p>
            <a:pPr algn="ctr"/>
            <a:r>
              <a:rPr lang="en-US" dirty="0"/>
              <a:t>→</a:t>
            </a:r>
          </a:p>
        </p:txBody>
      </p:sp>
      <p:sp>
        <p:nvSpPr>
          <p:cNvPr id="31" name="Shape 27"/>
          <p:cNvSpPr/>
          <p:nvPr/>
        </p:nvSpPr>
        <p:spPr>
          <a:xfrm>
            <a:off x="4700016" y="1936242"/>
            <a:ext cx="1993392" cy="3383280"/>
          </a:xfrm>
          <a:prstGeom prst="rect">
            <a:avLst/>
          </a:prstGeom>
          <a:solidFill>
            <a:srgbClr val="FFFFFF"/>
          </a:solidFill>
          <a:ln/>
        </p:spPr>
      </p:sp>
      <p:sp>
        <p:nvSpPr>
          <p:cNvPr id="32" name="Shape 28"/>
          <p:cNvSpPr/>
          <p:nvPr/>
        </p:nvSpPr>
        <p:spPr>
          <a:xfrm>
            <a:off x="4700016" y="1936242"/>
            <a:ext cx="1993392" cy="73152"/>
          </a:xfrm>
          <a:prstGeom prst="rect">
            <a:avLst/>
          </a:prstGeom>
          <a:solidFill>
            <a:srgbClr val="14B8A6"/>
          </a:solidFill>
          <a:ln/>
        </p:spPr>
      </p:sp>
      <p:sp>
        <p:nvSpPr>
          <p:cNvPr id="33" name="Shape 29"/>
          <p:cNvSpPr/>
          <p:nvPr/>
        </p:nvSpPr>
        <p:spPr>
          <a:xfrm>
            <a:off x="5358384" y="2045970"/>
            <a:ext cx="658368" cy="658368"/>
          </a:xfrm>
          <a:prstGeom prst="ellipse">
            <a:avLst/>
          </a:prstGeom>
          <a:solidFill>
            <a:srgbClr val="14B8A6"/>
          </a:solidFill>
          <a:ln/>
        </p:spPr>
      </p:sp>
      <p:sp>
        <p:nvSpPr>
          <p:cNvPr id="34" name="Text 30"/>
          <p:cNvSpPr/>
          <p:nvPr/>
        </p:nvSpPr>
        <p:spPr>
          <a:xfrm>
            <a:off x="5358384" y="2045970"/>
            <a:ext cx="658368" cy="658368"/>
          </a:xfrm>
          <a:prstGeom prst="rect">
            <a:avLst/>
          </a:prstGeom>
          <a:noFill/>
          <a:ln/>
        </p:spPr>
        <p:txBody>
          <a:bodyPr wrap="square" lIns="0" tIns="0" rIns="0" bIns="0" rtlCol="0" anchor="ctr"/>
          <a:lstStyle/>
          <a:p>
            <a:pPr algn="ctr"/>
            <a:r>
              <a:rPr lang="en-US" sz="2200" b="1" dirty="0">
                <a:latin typeface="Calibri" pitchFamily="34" charset="0"/>
                <a:ea typeface="Calibri" pitchFamily="34" charset="-122"/>
                <a:cs typeface="Calibri" pitchFamily="34" charset="-120"/>
              </a:rPr>
              <a:t>3</a:t>
            </a:r>
            <a:endParaRPr lang="en-US" sz="2200" dirty="0"/>
          </a:p>
        </p:txBody>
      </p:sp>
      <p:sp>
        <p:nvSpPr>
          <p:cNvPr id="35" name="Shape 31"/>
          <p:cNvSpPr/>
          <p:nvPr/>
        </p:nvSpPr>
        <p:spPr>
          <a:xfrm>
            <a:off x="5385816" y="2850642"/>
            <a:ext cx="603504" cy="603504"/>
          </a:xfrm>
          <a:prstGeom prst="ellipse">
            <a:avLst/>
          </a:prstGeom>
          <a:solidFill>
            <a:srgbClr val="14B8A6">
              <a:alpha val="80000"/>
            </a:srgbClr>
          </a:solidFill>
          <a:ln/>
        </p:spPr>
      </p:sp>
      <p:pic>
        <p:nvPicPr>
          <p:cNvPr id="36" name="Image 2" descr="preencoded.png"/>
          <p:cNvPicPr>
            <a:picLocks noChangeAspect="1"/>
          </p:cNvPicPr>
          <p:nvPr/>
        </p:nvPicPr>
        <p:blipFill>
          <a:blip r:embed="rId6"/>
          <a:stretch>
            <a:fillRect/>
          </a:stretch>
        </p:blipFill>
        <p:spPr>
          <a:xfrm>
            <a:off x="5477256" y="2932938"/>
            <a:ext cx="420624" cy="420624"/>
          </a:xfrm>
          <a:prstGeom prst="rect">
            <a:avLst/>
          </a:prstGeom>
        </p:spPr>
      </p:pic>
      <p:sp>
        <p:nvSpPr>
          <p:cNvPr id="37" name="Text 32"/>
          <p:cNvSpPr/>
          <p:nvPr/>
        </p:nvSpPr>
        <p:spPr>
          <a:xfrm>
            <a:off x="4791456" y="3563874"/>
            <a:ext cx="1810512" cy="274320"/>
          </a:xfrm>
          <a:prstGeom prst="rect">
            <a:avLst/>
          </a:prstGeom>
          <a:noFill/>
          <a:ln/>
        </p:spPr>
        <p:txBody>
          <a:bodyPr wrap="square" lIns="0" tIns="0" rIns="0" bIns="0" rtlCol="0" anchor="ctr"/>
          <a:lstStyle/>
          <a:p>
            <a:pPr algn="ctr"/>
            <a:r>
              <a:rPr lang="en-US" sz="1150" b="1" dirty="0">
                <a:latin typeface="Calibri" pitchFamily="34" charset="0"/>
                <a:ea typeface="Calibri" pitchFamily="34" charset="-122"/>
                <a:cs typeface="Calibri" pitchFamily="34" charset="-120"/>
              </a:rPr>
              <a:t>Transformation</a:t>
            </a:r>
            <a:endParaRPr lang="en-US" sz="1150" dirty="0"/>
          </a:p>
        </p:txBody>
      </p:sp>
      <p:sp>
        <p:nvSpPr>
          <p:cNvPr id="38" name="Text 33"/>
          <p:cNvSpPr/>
          <p:nvPr/>
        </p:nvSpPr>
        <p:spPr>
          <a:xfrm>
            <a:off x="4837176" y="3893058"/>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Text→Date conversion</a:t>
            </a:r>
            <a:endParaRPr lang="en-US" sz="950" dirty="0"/>
          </a:p>
        </p:txBody>
      </p:sp>
      <p:sp>
        <p:nvSpPr>
          <p:cNvPr id="39" name="Text 34"/>
          <p:cNvSpPr/>
          <p:nvPr/>
        </p:nvSpPr>
        <p:spPr>
          <a:xfrm>
            <a:off x="4837176" y="4240530"/>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birthdate, hire_date</a:t>
            </a:r>
            <a:endParaRPr lang="en-US" sz="950" dirty="0"/>
          </a:p>
        </p:txBody>
      </p:sp>
      <p:sp>
        <p:nvSpPr>
          <p:cNvPr id="40" name="Text 35"/>
          <p:cNvSpPr/>
          <p:nvPr/>
        </p:nvSpPr>
        <p:spPr>
          <a:xfrm>
            <a:off x="4837176" y="4588002"/>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termdate (strip time/UTC)</a:t>
            </a:r>
            <a:endParaRPr lang="en-US" sz="950" dirty="0"/>
          </a:p>
        </p:txBody>
      </p:sp>
      <p:sp>
        <p:nvSpPr>
          <p:cNvPr id="41" name="Text 36"/>
          <p:cNvSpPr/>
          <p:nvPr/>
        </p:nvSpPr>
        <p:spPr>
          <a:xfrm>
            <a:off x="4837176" y="4935474"/>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Date hierarchies enabled</a:t>
            </a:r>
            <a:endParaRPr lang="en-US" sz="950" dirty="0"/>
          </a:p>
        </p:txBody>
      </p:sp>
      <p:sp>
        <p:nvSpPr>
          <p:cNvPr id="42" name="Text 37"/>
          <p:cNvSpPr/>
          <p:nvPr/>
        </p:nvSpPr>
        <p:spPr>
          <a:xfrm>
            <a:off x="6620256" y="3198114"/>
            <a:ext cx="274320" cy="347472"/>
          </a:xfrm>
          <a:prstGeom prst="rect">
            <a:avLst/>
          </a:prstGeom>
          <a:noFill/>
          <a:ln/>
        </p:spPr>
        <p:txBody>
          <a:bodyPr wrap="square" lIns="0" tIns="0" rIns="0" bIns="0" rtlCol="0" anchor="ctr"/>
          <a:lstStyle/>
          <a:p>
            <a:pPr algn="ctr"/>
            <a:r>
              <a:rPr lang="en-US" dirty="0"/>
              <a:t>→</a:t>
            </a:r>
          </a:p>
        </p:txBody>
      </p:sp>
      <p:sp>
        <p:nvSpPr>
          <p:cNvPr id="43" name="Shape 38"/>
          <p:cNvSpPr/>
          <p:nvPr/>
        </p:nvSpPr>
        <p:spPr>
          <a:xfrm>
            <a:off x="6876288" y="1936242"/>
            <a:ext cx="1993392" cy="3383280"/>
          </a:xfrm>
          <a:prstGeom prst="rect">
            <a:avLst/>
          </a:prstGeom>
          <a:solidFill>
            <a:srgbClr val="FFFFFF"/>
          </a:solidFill>
          <a:ln/>
        </p:spPr>
      </p:sp>
      <p:sp>
        <p:nvSpPr>
          <p:cNvPr id="44" name="Shape 39"/>
          <p:cNvSpPr/>
          <p:nvPr/>
        </p:nvSpPr>
        <p:spPr>
          <a:xfrm>
            <a:off x="6876288" y="1936242"/>
            <a:ext cx="1993392" cy="73152"/>
          </a:xfrm>
          <a:prstGeom prst="rect">
            <a:avLst/>
          </a:prstGeom>
          <a:solidFill>
            <a:srgbClr val="43A047"/>
          </a:solidFill>
          <a:ln/>
        </p:spPr>
      </p:sp>
      <p:sp>
        <p:nvSpPr>
          <p:cNvPr id="45" name="Shape 40"/>
          <p:cNvSpPr/>
          <p:nvPr/>
        </p:nvSpPr>
        <p:spPr>
          <a:xfrm>
            <a:off x="7534656" y="2045970"/>
            <a:ext cx="658368" cy="658368"/>
          </a:xfrm>
          <a:prstGeom prst="ellipse">
            <a:avLst/>
          </a:prstGeom>
          <a:solidFill>
            <a:srgbClr val="43A047"/>
          </a:solidFill>
          <a:ln/>
        </p:spPr>
      </p:sp>
      <p:sp>
        <p:nvSpPr>
          <p:cNvPr id="46" name="Text 41"/>
          <p:cNvSpPr/>
          <p:nvPr/>
        </p:nvSpPr>
        <p:spPr>
          <a:xfrm>
            <a:off x="7534656" y="2045970"/>
            <a:ext cx="658368" cy="658368"/>
          </a:xfrm>
          <a:prstGeom prst="rect">
            <a:avLst/>
          </a:prstGeom>
          <a:noFill/>
          <a:ln/>
        </p:spPr>
        <p:txBody>
          <a:bodyPr wrap="square" lIns="0" tIns="0" rIns="0" bIns="0" rtlCol="0" anchor="ctr"/>
          <a:lstStyle/>
          <a:p>
            <a:pPr algn="ctr"/>
            <a:r>
              <a:rPr lang="en-US" sz="2200" b="1" dirty="0">
                <a:latin typeface="Calibri" pitchFamily="34" charset="0"/>
                <a:ea typeface="Calibri" pitchFamily="34" charset="-122"/>
                <a:cs typeface="Calibri" pitchFamily="34" charset="-120"/>
              </a:rPr>
              <a:t>4</a:t>
            </a:r>
            <a:endParaRPr lang="en-US" sz="2200" dirty="0"/>
          </a:p>
        </p:txBody>
      </p:sp>
      <p:sp>
        <p:nvSpPr>
          <p:cNvPr id="47" name="Shape 42"/>
          <p:cNvSpPr/>
          <p:nvPr/>
        </p:nvSpPr>
        <p:spPr>
          <a:xfrm>
            <a:off x="7562088" y="2850642"/>
            <a:ext cx="603504" cy="603504"/>
          </a:xfrm>
          <a:prstGeom prst="ellipse">
            <a:avLst/>
          </a:prstGeom>
          <a:solidFill>
            <a:srgbClr val="43A047">
              <a:alpha val="80000"/>
            </a:srgbClr>
          </a:solidFill>
          <a:ln/>
        </p:spPr>
      </p:sp>
      <p:pic>
        <p:nvPicPr>
          <p:cNvPr id="48" name="Image 3" descr="preencoded.png"/>
          <p:cNvPicPr>
            <a:picLocks noChangeAspect="1"/>
          </p:cNvPicPr>
          <p:nvPr/>
        </p:nvPicPr>
        <p:blipFill>
          <a:blip r:embed="rId7"/>
          <a:stretch>
            <a:fillRect/>
          </a:stretch>
        </p:blipFill>
        <p:spPr>
          <a:xfrm>
            <a:off x="7653528" y="2932938"/>
            <a:ext cx="420624" cy="420624"/>
          </a:xfrm>
          <a:prstGeom prst="rect">
            <a:avLst/>
          </a:prstGeom>
        </p:spPr>
      </p:pic>
      <p:sp>
        <p:nvSpPr>
          <p:cNvPr id="49" name="Text 43"/>
          <p:cNvSpPr/>
          <p:nvPr/>
        </p:nvSpPr>
        <p:spPr>
          <a:xfrm>
            <a:off x="6967728" y="3563874"/>
            <a:ext cx="1810512" cy="274320"/>
          </a:xfrm>
          <a:prstGeom prst="rect">
            <a:avLst/>
          </a:prstGeom>
          <a:noFill/>
          <a:ln/>
        </p:spPr>
        <p:txBody>
          <a:bodyPr wrap="square" lIns="0" tIns="0" rIns="0" bIns="0" rtlCol="0" anchor="ctr"/>
          <a:lstStyle/>
          <a:p>
            <a:pPr algn="ctr"/>
            <a:r>
              <a:rPr lang="en-US" sz="1150" b="1" dirty="0">
                <a:latin typeface="Calibri" pitchFamily="34" charset="0"/>
                <a:ea typeface="Calibri" pitchFamily="34" charset="-122"/>
                <a:cs typeface="Calibri" pitchFamily="34" charset="-120"/>
              </a:rPr>
              <a:t>Data Loading</a:t>
            </a:r>
            <a:endParaRPr lang="en-US" sz="1150" dirty="0"/>
          </a:p>
        </p:txBody>
      </p:sp>
      <p:sp>
        <p:nvSpPr>
          <p:cNvPr id="50" name="Text 44"/>
          <p:cNvSpPr/>
          <p:nvPr/>
        </p:nvSpPr>
        <p:spPr>
          <a:xfrm>
            <a:off x="7013448" y="3893058"/>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Applied all changes</a:t>
            </a:r>
            <a:endParaRPr lang="en-US" sz="950" dirty="0"/>
          </a:p>
        </p:txBody>
      </p:sp>
      <p:sp>
        <p:nvSpPr>
          <p:cNvPr id="51" name="Text 45"/>
          <p:cNvSpPr/>
          <p:nvPr/>
        </p:nvSpPr>
        <p:spPr>
          <a:xfrm>
            <a:off x="7013448" y="4240530"/>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Loaded to data model</a:t>
            </a:r>
            <a:endParaRPr lang="en-US" sz="950" dirty="0"/>
          </a:p>
        </p:txBody>
      </p:sp>
      <p:sp>
        <p:nvSpPr>
          <p:cNvPr id="52" name="Text 46"/>
          <p:cNvSpPr/>
          <p:nvPr/>
        </p:nvSpPr>
        <p:spPr>
          <a:xfrm>
            <a:off x="7013448" y="4588002"/>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Measures &amp; KPIs ready</a:t>
            </a:r>
            <a:endParaRPr lang="en-US" sz="950" dirty="0"/>
          </a:p>
        </p:txBody>
      </p:sp>
      <p:sp>
        <p:nvSpPr>
          <p:cNvPr id="53" name="Text 47"/>
          <p:cNvSpPr/>
          <p:nvPr/>
        </p:nvSpPr>
        <p:spPr>
          <a:xfrm>
            <a:off x="7013448" y="4935474"/>
            <a:ext cx="1737360" cy="310896"/>
          </a:xfrm>
          <a:prstGeom prst="rect">
            <a:avLst/>
          </a:prstGeom>
          <a:noFill/>
          <a:ln/>
        </p:spPr>
        <p:txBody>
          <a:bodyPr wrap="square" lIns="0" tIns="0" rIns="0" bIns="0" rtlCol="0" anchor="ctr"/>
          <a:lstStyle/>
          <a:p>
            <a:pPr>
              <a:lnSpc>
                <a:spcPct val="120000"/>
              </a:lnSpc>
            </a:pPr>
            <a:r>
              <a:rPr lang="en-US" sz="950" dirty="0">
                <a:latin typeface="Calibri" pitchFamily="34" charset="0"/>
                <a:ea typeface="Calibri" pitchFamily="34" charset="-122"/>
                <a:cs typeface="Calibri" pitchFamily="34" charset="-120"/>
              </a:rPr>
              <a:t>• Visuals activated</a:t>
            </a:r>
            <a:endParaRPr lang="en-US" sz="950" dirty="0"/>
          </a:p>
        </p:txBody>
      </p:sp>
      <p:sp>
        <p:nvSpPr>
          <p:cNvPr id="54" name="Shape 48"/>
          <p:cNvSpPr/>
          <p:nvPr/>
        </p:nvSpPr>
        <p:spPr>
          <a:xfrm>
            <a:off x="347472" y="5429250"/>
            <a:ext cx="8476488" cy="402336"/>
          </a:xfrm>
          <a:prstGeom prst="rect">
            <a:avLst/>
          </a:prstGeom>
          <a:solidFill>
            <a:srgbClr val="EFF4FF"/>
          </a:solidFill>
          <a:ln/>
        </p:spPr>
      </p:sp>
      <p:sp>
        <p:nvSpPr>
          <p:cNvPr id="55" name="Text 49"/>
          <p:cNvSpPr/>
          <p:nvPr/>
        </p:nvSpPr>
        <p:spPr>
          <a:xfrm>
            <a:off x="502920" y="5447538"/>
            <a:ext cx="8275320" cy="347472"/>
          </a:xfrm>
          <a:prstGeom prst="rect">
            <a:avLst/>
          </a:prstGeom>
          <a:noFill/>
          <a:ln/>
        </p:spPr>
        <p:txBody>
          <a:bodyPr wrap="square" lIns="0" tIns="0" rIns="0" bIns="0" rtlCol="0" anchor="ctr"/>
          <a:lstStyle/>
          <a:p>
            <a:r>
              <a:rPr lang="en-US" sz="1050" dirty="0">
                <a:latin typeface="Calibri" pitchFamily="34" charset="0"/>
                <a:ea typeface="Calibri" pitchFamily="34" charset="-122"/>
                <a:cs typeface="Calibri" pitchFamily="34" charset="-120"/>
              </a:rPr>
              <a:t>✅  No column errors · No duplicate Employee IDs · termdate blanks = active employees (not data quality issues)</a:t>
            </a:r>
            <a:endParaRPr lang="en-US" sz="1050"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Key Workforce Metrics FY 2020</a:t>
            </a:r>
          </a:p>
        </p:txBody>
      </p:sp>
      <p:pic>
        <p:nvPicPr>
          <p:cNvPr id="3" name="Picture 2" descr="99cb8212-49a8-4c61-bbf7-6eb700a2afdb.png"/>
          <p:cNvPicPr>
            <a:picLocks noChangeAspect="1"/>
          </p:cNvPicPr>
          <p:nvPr/>
        </p:nvPicPr>
        <p:blipFill>
          <a:blip r:embed="rId3"/>
          <a:stretch>
            <a:fillRect/>
          </a:stretch>
        </p:blipFill>
        <p:spPr>
          <a:xfrm>
            <a:off x="5486400" y="2039112"/>
            <a:ext cx="3200400" cy="2099187"/>
          </a:xfrm>
          <a:prstGeom prst="rect">
            <a:avLst/>
          </a:prstGeom>
        </p:spPr>
      </p:pic>
      <p:sp>
        <p:nvSpPr>
          <p:cNvPr id="4" name="TextBox 3"/>
          <p:cNvSpPr txBox="1"/>
          <p:nvPr/>
        </p:nvSpPr>
        <p:spPr>
          <a:xfrm>
            <a:off x="457200" y="1600200"/>
            <a:ext cx="4892040" cy="4572000"/>
          </a:xfrm>
          <a:prstGeom prst="rect">
            <a:avLst/>
          </a:prstGeom>
          <a:noFill/>
        </p:spPr>
        <p:txBody>
          <a:bodyPr wrap="square">
            <a:spAutoFit/>
          </a:bodyPr>
          <a:lstStyle/>
          <a:p>
            <a:endParaRPr dirty="0">
              <a:solidFill>
                <a:schemeClr val="bg1"/>
              </a:solidFill>
            </a:endParaRPr>
          </a:p>
          <a:p>
            <a:pPr>
              <a:spcAft>
                <a:spcPts val="2880"/>
              </a:spcAft>
              <a:defRPr sz="2400" b="0" i="0">
                <a:solidFill>
                  <a:srgbClr val="F5F5F5"/>
                </a:solidFill>
              </a:defRPr>
            </a:pPr>
            <a:r>
              <a:rPr dirty="0">
                <a:solidFill>
                  <a:schemeClr val="bg1"/>
                </a:solidFill>
              </a:rPr>
              <a:t>- Total Employees: 22,000</a:t>
            </a:r>
          </a:p>
          <a:p>
            <a:pPr>
              <a:spcAft>
                <a:spcPts val="2880"/>
              </a:spcAft>
              <a:defRPr sz="2400" b="0" i="0">
                <a:solidFill>
                  <a:srgbClr val="F5F5F5"/>
                </a:solidFill>
              </a:defRPr>
            </a:pPr>
            <a:r>
              <a:rPr dirty="0">
                <a:solidFill>
                  <a:schemeClr val="bg1"/>
                </a:solidFill>
              </a:rPr>
              <a:t>- Active Employees: 18,000</a:t>
            </a:r>
          </a:p>
          <a:p>
            <a:pPr>
              <a:spcAft>
                <a:spcPts val="2880"/>
              </a:spcAft>
              <a:defRPr sz="2400" b="0" i="0">
                <a:solidFill>
                  <a:srgbClr val="F5F5F5"/>
                </a:solidFill>
              </a:defRPr>
            </a:pPr>
            <a:r>
              <a:rPr dirty="0">
                <a:solidFill>
                  <a:schemeClr val="bg1"/>
                </a:solidFill>
              </a:rPr>
              <a:t>- Termination Rate: 17.7% (4,000 employees)</a:t>
            </a:r>
          </a:p>
          <a:p>
            <a:pPr>
              <a:spcAft>
                <a:spcPts val="2880"/>
              </a:spcAft>
              <a:defRPr sz="2400" b="0" i="0">
                <a:solidFill>
                  <a:srgbClr val="F5F5F5"/>
                </a:solidFill>
              </a:defRPr>
            </a:pPr>
            <a:r>
              <a:rPr dirty="0">
                <a:solidFill>
                  <a:schemeClr val="bg1"/>
                </a:solidFill>
              </a:rPr>
              <a:t>- Average Employee Age: 38.4 years</a:t>
            </a:r>
          </a:p>
          <a:p>
            <a:pPr>
              <a:spcAft>
                <a:spcPts val="2880"/>
              </a:spcAft>
              <a:defRPr sz="2400" b="0" i="0">
                <a:solidFill>
                  <a:srgbClr val="F5F5F5"/>
                </a:solidFill>
              </a:defRPr>
            </a:pPr>
            <a:r>
              <a:rPr dirty="0">
                <a:solidFill>
                  <a:schemeClr val="bg1"/>
                </a:solidFill>
              </a:rPr>
              <a:t>- Average Tenure: 14.74 years</a:t>
            </a:r>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tx1"/>
                </a:solidFill>
              </a:rPr>
              <a:t>Hiring Trends Analysis</a:t>
            </a:r>
          </a:p>
        </p:txBody>
      </p:sp>
      <p:pic>
        <p:nvPicPr>
          <p:cNvPr id="4" name="Picture 3" descr="f801e219-5ffd-42d3-b1ae-c22baeba71eb.png"/>
          <p:cNvPicPr>
            <a:picLocks noChangeAspect="1"/>
          </p:cNvPicPr>
          <p:nvPr/>
        </p:nvPicPr>
        <p:blipFill>
          <a:blip r:embed="rId3"/>
          <a:stretch>
            <a:fillRect/>
          </a:stretch>
        </p:blipFill>
        <p:spPr>
          <a:xfrm>
            <a:off x="5486400" y="2039112"/>
            <a:ext cx="3200400" cy="1988127"/>
          </a:xfrm>
          <a:prstGeom prst="rect">
            <a:avLst/>
          </a:prstGeom>
        </p:spPr>
      </p:pic>
      <p:sp>
        <p:nvSpPr>
          <p:cNvPr id="5" name="TextBox 4"/>
          <p:cNvSpPr txBox="1"/>
          <p:nvPr/>
        </p:nvSpPr>
        <p:spPr>
          <a:xfrm>
            <a:off x="548640" y="1630680"/>
            <a:ext cx="4892040" cy="4547399"/>
          </a:xfrm>
          <a:prstGeom prst="rect">
            <a:avLst/>
          </a:prstGeom>
          <a:noFill/>
        </p:spPr>
        <p:txBody>
          <a:bodyPr wrap="square">
            <a:spAutoFit/>
          </a:bodyPr>
          <a:lstStyle/>
          <a:p>
            <a:r>
              <a:rPr lang="en-GB" dirty="0"/>
              <a:t>Two Decades of Workforce Growth (2000-2020)</a:t>
            </a:r>
            <a:endParaRPr dirty="0"/>
          </a:p>
          <a:p>
            <a:pPr>
              <a:spcAft>
                <a:spcPts val="1080"/>
              </a:spcAft>
              <a:defRPr sz="1700" b="0" i="0">
                <a:solidFill>
                  <a:srgbClr val="000000"/>
                </a:solidFill>
              </a:defRPr>
            </a:pPr>
            <a:r>
              <a:rPr sz="1600" dirty="0"/>
              <a:t>Our organization has experienced significant fluctuations in hiring volume over the past 20 years, ranging from 220 employees in 2000 to peaks exceeding 1,200 annually during growth periods.</a:t>
            </a:r>
          </a:p>
          <a:p>
            <a:pPr>
              <a:spcAft>
                <a:spcPts val="1080"/>
              </a:spcAft>
              <a:defRPr sz="1700" b="0" i="0">
                <a:solidFill>
                  <a:srgbClr val="000000"/>
                </a:solidFill>
              </a:defRPr>
            </a:pPr>
            <a:r>
              <a:rPr sz="1600" dirty="0"/>
              <a:t>Year-over-year growth analysis shows extreme volatility, from 410% growth in early 2000s to negative growth rates of -7% in recent years, indicating inconsistent workforce expansion strategies.</a:t>
            </a:r>
          </a:p>
          <a:p>
            <a:pPr>
              <a:spcAft>
                <a:spcPts val="720"/>
              </a:spcAft>
              <a:defRPr sz="2000" b="1" i="0">
                <a:solidFill>
                  <a:srgbClr val="000000"/>
                </a:solidFill>
              </a:defRPr>
            </a:pPr>
            <a:r>
              <a:rPr sz="1600" dirty="0"/>
              <a:t>Key Hiring Insights:</a:t>
            </a:r>
          </a:p>
          <a:p>
            <a:pPr lvl="1">
              <a:spcAft>
                <a:spcPts val="1440"/>
              </a:spcAft>
              <a:defRPr sz="1700" b="0" i="0">
                <a:solidFill>
                  <a:srgbClr val="000000"/>
                </a:solidFill>
              </a:defRPr>
            </a:pPr>
            <a:r>
              <a:rPr sz="1600" dirty="0"/>
              <a:t>- Peak hiring years: 2002-2015 (1,100-1,200 annually)</a:t>
            </a:r>
          </a:p>
          <a:p>
            <a:pPr lvl="1">
              <a:spcAft>
                <a:spcPts val="1440"/>
              </a:spcAft>
              <a:defRPr sz="1700" b="0" i="0">
                <a:solidFill>
                  <a:srgbClr val="000000"/>
                </a:solidFill>
              </a:defRPr>
            </a:pPr>
            <a:r>
              <a:rPr sz="1600" dirty="0"/>
              <a:t>- 2020 hiring: 1,012 new employees</a:t>
            </a:r>
          </a:p>
          <a:p>
            <a:pPr lvl="1">
              <a:spcAft>
                <a:spcPts val="1440"/>
              </a:spcAft>
              <a:defRPr sz="1700" b="0" i="0">
                <a:solidFill>
                  <a:srgbClr val="000000"/>
                </a:solidFill>
              </a:defRPr>
            </a:pPr>
            <a:r>
              <a:rPr sz="1600" dirty="0"/>
              <a:t>- Recent trend: Declining hiring rates (-7% YoY growth)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Hiring by Department</a:t>
            </a:r>
          </a:p>
        </p:txBody>
      </p:sp>
      <p:pic>
        <p:nvPicPr>
          <p:cNvPr id="3" name="Picture 2" descr="6703e4ad-8611-4233-8fa0-86add02565dd.png"/>
          <p:cNvPicPr>
            <a:picLocks noChangeAspect="1"/>
          </p:cNvPicPr>
          <p:nvPr/>
        </p:nvPicPr>
        <p:blipFill>
          <a:blip r:embed="rId3"/>
          <a:stretch>
            <a:fillRect/>
          </a:stretch>
        </p:blipFill>
        <p:spPr>
          <a:xfrm>
            <a:off x="5486400" y="2039112"/>
            <a:ext cx="3200400" cy="3200400"/>
          </a:xfrm>
          <a:prstGeom prst="rect">
            <a:avLst/>
          </a:prstGeom>
        </p:spPr>
      </p:pic>
      <p:sp>
        <p:nvSpPr>
          <p:cNvPr id="4" name="TextBox 3"/>
          <p:cNvSpPr txBox="1"/>
          <p:nvPr/>
        </p:nvSpPr>
        <p:spPr>
          <a:xfrm>
            <a:off x="457200" y="1600200"/>
            <a:ext cx="4892040" cy="4811574"/>
          </a:xfrm>
          <a:prstGeom prst="rect">
            <a:avLst/>
          </a:prstGeom>
          <a:noFill/>
        </p:spPr>
        <p:txBody>
          <a:bodyPr wrap="square">
            <a:spAutoFit/>
          </a:bodyPr>
          <a:lstStyle/>
          <a:p>
            <a:endParaRPr dirty="0">
              <a:solidFill>
                <a:schemeClr val="bg1"/>
              </a:solidFill>
            </a:endParaRPr>
          </a:p>
          <a:p>
            <a:pPr>
              <a:spcAft>
                <a:spcPts val="2880"/>
              </a:spcAft>
              <a:defRPr sz="2400" b="0" i="0">
                <a:solidFill>
                  <a:srgbClr val="F5F5F5"/>
                </a:solidFill>
              </a:defRPr>
            </a:pPr>
            <a:r>
              <a:rPr dirty="0">
                <a:solidFill>
                  <a:schemeClr val="bg1"/>
                </a:solidFill>
              </a:rPr>
              <a:t>- Engineering: 6,700 hires (largest department)</a:t>
            </a:r>
          </a:p>
          <a:p>
            <a:pPr>
              <a:spcAft>
                <a:spcPts val="2880"/>
              </a:spcAft>
              <a:defRPr sz="2400" b="0" i="0">
                <a:solidFill>
                  <a:srgbClr val="F5F5F5"/>
                </a:solidFill>
              </a:defRPr>
            </a:pPr>
            <a:r>
              <a:rPr dirty="0">
                <a:solidFill>
                  <a:schemeClr val="bg1"/>
                </a:solidFill>
              </a:rPr>
              <a:t>- Accounting: 3,300 hires (focus department)</a:t>
            </a:r>
          </a:p>
          <a:p>
            <a:pPr>
              <a:spcAft>
                <a:spcPts val="2880"/>
              </a:spcAft>
              <a:defRPr sz="2400" b="0" i="0">
                <a:solidFill>
                  <a:srgbClr val="F5F5F5"/>
                </a:solidFill>
              </a:defRPr>
            </a:pPr>
            <a:r>
              <a:rPr dirty="0">
                <a:solidFill>
                  <a:schemeClr val="bg1"/>
                </a:solidFill>
              </a:rPr>
              <a:t>- Sales: 1,800 hires</a:t>
            </a:r>
          </a:p>
          <a:p>
            <a:pPr>
              <a:spcAft>
                <a:spcPts val="2880"/>
              </a:spcAft>
              <a:defRPr sz="2400" b="0" i="0">
                <a:solidFill>
                  <a:srgbClr val="F5F5F5"/>
                </a:solidFill>
              </a:defRPr>
            </a:pPr>
            <a:r>
              <a:rPr dirty="0">
                <a:solidFill>
                  <a:schemeClr val="bg1"/>
                </a:solidFill>
              </a:rPr>
              <a:t>- Human Resources: 1,800 hires</a:t>
            </a:r>
          </a:p>
          <a:p>
            <a:pPr>
              <a:spcAft>
                <a:spcPts val="2880"/>
              </a:spcAft>
              <a:defRPr sz="2400" b="0" i="0">
                <a:solidFill>
                  <a:srgbClr val="F5F5F5"/>
                </a:solidFill>
              </a:defRPr>
            </a:pPr>
            <a:r>
              <a:rPr dirty="0">
                <a:solidFill>
                  <a:schemeClr val="bg1"/>
                </a:solidFill>
              </a:rPr>
              <a:t>- Training &amp; Services: 1,700 hires each</a:t>
            </a:r>
          </a:p>
        </p:txBody>
      </p:sp>
    </p:spTree>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Workforce Demographics</a:t>
            </a:r>
          </a:p>
        </p:txBody>
      </p:sp>
      <p:pic>
        <p:nvPicPr>
          <p:cNvPr id="4" name="Picture 3" descr="a6fa9c05-51fd-4e0c-8662-5e4961fb3da7.png"/>
          <p:cNvPicPr>
            <a:picLocks noChangeAspect="1"/>
          </p:cNvPicPr>
          <p:nvPr/>
        </p:nvPicPr>
        <p:blipFill>
          <a:blip r:embed="rId3"/>
          <a:stretch>
            <a:fillRect/>
          </a:stretch>
        </p:blipFill>
        <p:spPr>
          <a:xfrm>
            <a:off x="5486400" y="2039112"/>
            <a:ext cx="3200400" cy="1796464"/>
          </a:xfrm>
          <a:prstGeom prst="rect">
            <a:avLst/>
          </a:prstGeom>
        </p:spPr>
      </p:pic>
      <p:sp>
        <p:nvSpPr>
          <p:cNvPr id="5" name="TextBox 4"/>
          <p:cNvSpPr txBox="1"/>
          <p:nvPr/>
        </p:nvSpPr>
        <p:spPr>
          <a:xfrm>
            <a:off x="548640" y="1143000"/>
            <a:ext cx="4892040" cy="5329664"/>
          </a:xfrm>
          <a:prstGeom prst="rect">
            <a:avLst/>
          </a:prstGeom>
          <a:noFill/>
        </p:spPr>
        <p:txBody>
          <a:bodyPr wrap="square">
            <a:spAutoFit/>
          </a:bodyPr>
          <a:lstStyle/>
          <a:p>
            <a:endParaRPr sz="1600" dirty="0"/>
          </a:p>
          <a:p>
            <a:pPr>
              <a:spcAft>
                <a:spcPts val="1080"/>
              </a:spcAft>
              <a:defRPr sz="2400" b="1" i="1">
                <a:solidFill>
                  <a:srgbClr val="000000"/>
                </a:solidFill>
              </a:defRPr>
            </a:pPr>
            <a:r>
              <a:rPr sz="1600" dirty="0"/>
              <a:t>Gender, Race, and Age Distribution</a:t>
            </a:r>
          </a:p>
          <a:p>
            <a:pPr>
              <a:spcAft>
                <a:spcPts val="1080"/>
              </a:spcAft>
              <a:defRPr sz="1700" b="0" i="0">
                <a:solidFill>
                  <a:srgbClr val="000000"/>
                </a:solidFill>
              </a:defRPr>
            </a:pPr>
            <a:r>
              <a:rPr sz="1600" dirty="0"/>
              <a:t>Our organization maintains strong gender balance with 50.81% male and 46.46% female employees, plus 2.72% non-conforming individuals, demonstrating inclusive hiring practices.</a:t>
            </a:r>
          </a:p>
          <a:p>
            <a:pPr>
              <a:spcAft>
                <a:spcPts val="1080"/>
              </a:spcAft>
              <a:defRPr sz="1700" b="0" i="0">
                <a:solidFill>
                  <a:srgbClr val="000000"/>
                </a:solidFill>
              </a:defRPr>
            </a:pPr>
            <a:r>
              <a:rPr sz="1600" dirty="0"/>
              <a:t>Racial diversity is robust across six major categories, with White employees representing the largest group, followed by significant representation from Two or More races, Black or African American, and Asian populations.</a:t>
            </a:r>
          </a:p>
          <a:p>
            <a:pPr>
              <a:spcAft>
                <a:spcPts val="720"/>
              </a:spcAft>
              <a:defRPr sz="2000" b="1" i="0">
                <a:solidFill>
                  <a:srgbClr val="000000"/>
                </a:solidFill>
              </a:defRPr>
            </a:pPr>
            <a:r>
              <a:rPr sz="1600" dirty="0"/>
              <a:t>Demographic Highlights:</a:t>
            </a:r>
          </a:p>
          <a:p>
            <a:pPr lvl="1">
              <a:spcAft>
                <a:spcPts val="1440"/>
              </a:spcAft>
              <a:defRPr sz="1700" b="0" i="0">
                <a:solidFill>
                  <a:srgbClr val="000000"/>
                </a:solidFill>
              </a:defRPr>
            </a:pPr>
            <a:r>
              <a:rPr sz="1600" dirty="0"/>
              <a:t>- Gender: Near-equal male/female split (50.81% / 46.46%)</a:t>
            </a:r>
          </a:p>
          <a:p>
            <a:pPr lvl="1">
              <a:spcAft>
                <a:spcPts val="1440"/>
              </a:spcAft>
              <a:defRPr sz="1700" b="0" i="0">
                <a:solidFill>
                  <a:srgbClr val="000000"/>
                </a:solidFill>
              </a:defRPr>
            </a:pPr>
            <a:r>
              <a:rPr sz="1600" dirty="0"/>
              <a:t>- Race: Diverse representation across 6+ categories</a:t>
            </a:r>
          </a:p>
          <a:p>
            <a:pPr lvl="1">
              <a:spcAft>
                <a:spcPts val="1440"/>
              </a:spcAft>
              <a:defRPr sz="1700" b="0" i="0">
                <a:solidFill>
                  <a:srgbClr val="000000"/>
                </a:solidFill>
              </a:defRPr>
            </a:pPr>
            <a:r>
              <a:rPr sz="1600" dirty="0"/>
              <a:t>- Age: Concentrated in 25-54 range (mid-career focus)</a:t>
            </a:r>
          </a:p>
          <a:p>
            <a:pPr lvl="1">
              <a:spcAft>
                <a:spcPts val="1440"/>
              </a:spcAft>
              <a:defRPr sz="1700" b="0" i="0">
                <a:solidFill>
                  <a:srgbClr val="000000"/>
                </a:solidFill>
              </a:defRPr>
            </a:pPr>
            <a:r>
              <a:rPr sz="1600" dirty="0"/>
              <a:t>- Average age across departments: 35-40 years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bg1"/>
                </a:solidFill>
              </a:rPr>
              <a:t>Attrition Concerns</a:t>
            </a:r>
          </a:p>
        </p:txBody>
      </p:sp>
      <p:pic>
        <p:nvPicPr>
          <p:cNvPr id="3" name="Picture 2" descr="6703e4ad-8611-4233-8fa0-86add02565dd.png"/>
          <p:cNvPicPr>
            <a:picLocks noChangeAspect="1"/>
          </p:cNvPicPr>
          <p:nvPr/>
        </p:nvPicPr>
        <p:blipFill>
          <a:blip r:embed="rId3"/>
          <a:stretch>
            <a:fillRect/>
          </a:stretch>
        </p:blipFill>
        <p:spPr>
          <a:xfrm>
            <a:off x="5486400" y="2039112"/>
            <a:ext cx="3200400" cy="3200400"/>
          </a:xfrm>
          <a:prstGeom prst="rect">
            <a:avLst/>
          </a:prstGeom>
        </p:spPr>
      </p:pic>
      <p:sp>
        <p:nvSpPr>
          <p:cNvPr id="4" name="TextBox 3"/>
          <p:cNvSpPr txBox="1"/>
          <p:nvPr/>
        </p:nvSpPr>
        <p:spPr>
          <a:xfrm>
            <a:off x="457200" y="1600200"/>
            <a:ext cx="4892040" cy="5180905"/>
          </a:xfrm>
          <a:prstGeom prst="rect">
            <a:avLst/>
          </a:prstGeom>
          <a:noFill/>
        </p:spPr>
        <p:txBody>
          <a:bodyPr wrap="square">
            <a:spAutoFit/>
          </a:bodyPr>
          <a:lstStyle/>
          <a:p>
            <a:endParaRPr dirty="0">
              <a:solidFill>
                <a:schemeClr val="bg1"/>
              </a:solidFill>
            </a:endParaRPr>
          </a:p>
          <a:p>
            <a:pPr>
              <a:spcAft>
                <a:spcPts val="2880"/>
              </a:spcAft>
              <a:defRPr sz="2400" b="0" i="0">
                <a:solidFill>
                  <a:srgbClr val="F5F5F5"/>
                </a:solidFill>
              </a:defRPr>
            </a:pPr>
            <a:r>
              <a:rPr dirty="0">
                <a:solidFill>
                  <a:schemeClr val="bg1"/>
                </a:solidFill>
              </a:rPr>
              <a:t>- Termination trend: 7 (2000) to 166 (2020) employees</a:t>
            </a:r>
          </a:p>
          <a:p>
            <a:pPr>
              <a:spcAft>
                <a:spcPts val="2880"/>
              </a:spcAft>
              <a:defRPr sz="2400" b="0" i="0">
                <a:solidFill>
                  <a:srgbClr val="F5F5F5"/>
                </a:solidFill>
              </a:defRPr>
            </a:pPr>
            <a:r>
              <a:rPr dirty="0">
                <a:solidFill>
                  <a:schemeClr val="bg1"/>
                </a:solidFill>
              </a:rPr>
              <a:t>- Engineering terminations: 1,185 (highest impact)</a:t>
            </a:r>
          </a:p>
          <a:p>
            <a:pPr>
              <a:spcAft>
                <a:spcPts val="2880"/>
              </a:spcAft>
              <a:defRPr sz="2400" b="0" i="0">
                <a:solidFill>
                  <a:srgbClr val="F5F5F5"/>
                </a:solidFill>
              </a:defRPr>
            </a:pPr>
            <a:r>
              <a:rPr dirty="0">
                <a:solidFill>
                  <a:schemeClr val="bg1"/>
                </a:solidFill>
              </a:rPr>
              <a:t>- Accounting terminations: 586</a:t>
            </a:r>
          </a:p>
          <a:p>
            <a:pPr>
              <a:spcAft>
                <a:spcPts val="2880"/>
              </a:spcAft>
              <a:defRPr sz="2400" b="0" i="0">
                <a:solidFill>
                  <a:srgbClr val="F5F5F5"/>
                </a:solidFill>
              </a:defRPr>
            </a:pPr>
            <a:r>
              <a:rPr dirty="0">
                <a:solidFill>
                  <a:schemeClr val="bg1"/>
                </a:solidFill>
              </a:rPr>
              <a:t>- Average tenure before leaving: 10.44 years</a:t>
            </a:r>
          </a:p>
          <a:p>
            <a:pPr>
              <a:spcAft>
                <a:spcPts val="2880"/>
              </a:spcAft>
              <a:defRPr sz="2400" b="0" i="0">
                <a:solidFill>
                  <a:srgbClr val="F5F5F5"/>
                </a:solidFill>
              </a:defRPr>
            </a:pPr>
            <a:r>
              <a:rPr dirty="0">
                <a:solidFill>
                  <a:schemeClr val="bg1"/>
                </a:solidFill>
              </a:rPr>
              <a:t>- Critical retention gap: 4.3 years before average tenure</a:t>
            </a:r>
          </a:p>
        </p:txBody>
      </p:sp>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Geographic Distribution</a:t>
            </a:r>
          </a:p>
        </p:txBody>
      </p:sp>
      <p:pic>
        <p:nvPicPr>
          <p:cNvPr id="4" name="Picture 3" descr="aa8982fe-9ee1-439f-9c8f-4a66a4cb4719.png"/>
          <p:cNvPicPr>
            <a:picLocks noChangeAspect="1"/>
          </p:cNvPicPr>
          <p:nvPr/>
        </p:nvPicPr>
        <p:blipFill>
          <a:blip r:embed="rId3"/>
          <a:stretch>
            <a:fillRect/>
          </a:stretch>
        </p:blipFill>
        <p:spPr>
          <a:xfrm>
            <a:off x="5486400" y="2039112"/>
            <a:ext cx="3200400" cy="1820917"/>
          </a:xfrm>
          <a:prstGeom prst="rect">
            <a:avLst/>
          </a:prstGeom>
        </p:spPr>
      </p:pic>
      <p:sp>
        <p:nvSpPr>
          <p:cNvPr id="5" name="TextBox 4"/>
          <p:cNvSpPr txBox="1"/>
          <p:nvPr/>
        </p:nvSpPr>
        <p:spPr>
          <a:xfrm>
            <a:off x="457200" y="1152939"/>
            <a:ext cx="4892040" cy="5083443"/>
          </a:xfrm>
          <a:prstGeom prst="rect">
            <a:avLst/>
          </a:prstGeom>
          <a:noFill/>
        </p:spPr>
        <p:txBody>
          <a:bodyPr wrap="square">
            <a:spAutoFit/>
          </a:bodyPr>
          <a:lstStyle/>
          <a:p>
            <a:endParaRPr sz="1600" dirty="0"/>
          </a:p>
          <a:p>
            <a:pPr>
              <a:spcAft>
                <a:spcPts val="1080"/>
              </a:spcAft>
              <a:defRPr sz="2400" b="1" i="1">
                <a:solidFill>
                  <a:srgbClr val="000000"/>
                </a:solidFill>
              </a:defRPr>
            </a:pPr>
            <a:r>
              <a:rPr sz="1600" dirty="0"/>
              <a:t>State, City, and Location Analysis</a:t>
            </a:r>
          </a:p>
          <a:p>
            <a:pPr>
              <a:spcAft>
                <a:spcPts val="1080"/>
              </a:spcAft>
              <a:defRPr sz="1700" b="0" i="0">
                <a:solidFill>
                  <a:srgbClr val="000000"/>
                </a:solidFill>
              </a:defRPr>
            </a:pPr>
            <a:r>
              <a:rPr sz="1600" dirty="0"/>
              <a:t>Our workforce is heavily concentrated in Ohio with 18,000 employees, followed by Pennsylvania (1,100) and Illinois (900), creating potential risks from geographic over-concentration.</a:t>
            </a:r>
          </a:p>
          <a:p>
            <a:pPr>
              <a:spcAft>
                <a:spcPts val="1080"/>
              </a:spcAft>
              <a:defRPr sz="1700" b="0" i="0">
                <a:solidFill>
                  <a:srgbClr val="000000"/>
                </a:solidFill>
              </a:defRPr>
            </a:pPr>
            <a:r>
              <a:rPr sz="1600" dirty="0"/>
              <a:t>The headquarters versus remote split shows 75% of employees at physical locations and 25% working remotely, a ratio that may need reassessment given evolving workplace trends.</a:t>
            </a:r>
          </a:p>
          <a:p>
            <a:pPr>
              <a:spcAft>
                <a:spcPts val="720"/>
              </a:spcAft>
              <a:defRPr sz="2000" b="1" i="0">
                <a:solidFill>
                  <a:srgbClr val="000000"/>
                </a:solidFill>
              </a:defRPr>
            </a:pPr>
            <a:r>
              <a:rPr sz="1600" dirty="0"/>
              <a:t>Geographic Insights:</a:t>
            </a:r>
          </a:p>
          <a:p>
            <a:pPr lvl="1">
              <a:spcAft>
                <a:spcPts val="1440"/>
              </a:spcAft>
              <a:defRPr sz="1700" b="0" i="0">
                <a:solidFill>
                  <a:srgbClr val="000000"/>
                </a:solidFill>
              </a:defRPr>
            </a:pPr>
            <a:r>
              <a:rPr sz="1600" dirty="0"/>
              <a:t>- Primary location: Ohio (18,000 employees)</a:t>
            </a:r>
          </a:p>
          <a:p>
            <a:pPr lvl="1">
              <a:spcAft>
                <a:spcPts val="1440"/>
              </a:spcAft>
              <a:defRPr sz="1700" b="0" i="0">
                <a:solidFill>
                  <a:srgbClr val="000000"/>
                </a:solidFill>
              </a:defRPr>
            </a:pPr>
            <a:r>
              <a:rPr sz="1600" dirty="0"/>
              <a:t>- Top cities: Springfield, Toledo, </a:t>
            </a:r>
            <a:r>
              <a:rPr sz="1600" dirty="0" err="1"/>
              <a:t>Wiltses</a:t>
            </a:r>
            <a:endParaRPr sz="1600" dirty="0"/>
          </a:p>
          <a:p>
            <a:pPr lvl="1">
              <a:spcAft>
                <a:spcPts val="1440"/>
              </a:spcAft>
              <a:defRPr sz="1700" b="0" i="0">
                <a:solidFill>
                  <a:srgbClr val="000000"/>
                </a:solidFill>
              </a:defRPr>
            </a:pPr>
            <a:r>
              <a:rPr sz="1600" dirty="0"/>
              <a:t>- Headquarters: 17,000 (75%) vs. Remote: 5,000 (25%)</a:t>
            </a:r>
          </a:p>
          <a:p>
            <a:pPr lvl="1">
              <a:spcAft>
                <a:spcPts val="1440"/>
              </a:spcAft>
              <a:defRPr sz="1700" b="0" i="0">
                <a:solidFill>
                  <a:srgbClr val="000000"/>
                </a:solidFill>
              </a:defRPr>
            </a:pPr>
            <a:r>
              <a:rPr sz="1600" dirty="0"/>
              <a:t>- Illinois focus: 900 employees in Accounting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Department Deep Dive</a:t>
            </a:r>
          </a:p>
        </p:txBody>
      </p:sp>
      <p:pic>
        <p:nvPicPr>
          <p:cNvPr id="4" name="Picture 3" descr="1da59575-38d6-420a-bce6-95b5eb97767c.png"/>
          <p:cNvPicPr>
            <a:picLocks noChangeAspect="1"/>
          </p:cNvPicPr>
          <p:nvPr/>
        </p:nvPicPr>
        <p:blipFill>
          <a:blip r:embed="rId3"/>
          <a:stretch>
            <a:fillRect/>
          </a:stretch>
        </p:blipFill>
        <p:spPr>
          <a:xfrm>
            <a:off x="5486400" y="2039112"/>
            <a:ext cx="3200400" cy="3200400"/>
          </a:xfrm>
          <a:prstGeom prst="rect">
            <a:avLst/>
          </a:prstGeom>
        </p:spPr>
      </p:pic>
      <p:sp>
        <p:nvSpPr>
          <p:cNvPr id="5" name="TextBox 4"/>
          <p:cNvSpPr txBox="1"/>
          <p:nvPr/>
        </p:nvSpPr>
        <p:spPr>
          <a:xfrm>
            <a:off x="548640" y="1143000"/>
            <a:ext cx="4892040" cy="4837222"/>
          </a:xfrm>
          <a:prstGeom prst="rect">
            <a:avLst/>
          </a:prstGeom>
          <a:noFill/>
        </p:spPr>
        <p:txBody>
          <a:bodyPr wrap="square">
            <a:spAutoFit/>
          </a:bodyPr>
          <a:lstStyle/>
          <a:p>
            <a:endParaRPr sz="1600" dirty="0"/>
          </a:p>
          <a:p>
            <a:pPr>
              <a:spcAft>
                <a:spcPts val="1080"/>
              </a:spcAft>
              <a:defRPr sz="2400" b="1" i="1">
                <a:solidFill>
                  <a:srgbClr val="000000"/>
                </a:solidFill>
              </a:defRPr>
            </a:pPr>
            <a:r>
              <a:rPr sz="1600" dirty="0"/>
              <a:t>Composition and Demographics by Function</a:t>
            </a:r>
          </a:p>
          <a:p>
            <a:pPr>
              <a:spcAft>
                <a:spcPts val="1080"/>
              </a:spcAft>
              <a:defRPr sz="1700" b="0" i="0">
                <a:solidFill>
                  <a:srgbClr val="000000"/>
                </a:solidFill>
              </a:defRPr>
            </a:pPr>
            <a:r>
              <a:rPr sz="1600" dirty="0"/>
              <a:t>Gender distribution remains remarkably consistent across all departments, with each maintaining close to the 50-50 organizational average, demonstrating equitable hiring practices.</a:t>
            </a:r>
          </a:p>
          <a:p>
            <a:pPr>
              <a:spcAft>
                <a:spcPts val="1080"/>
              </a:spcAft>
              <a:defRPr sz="1700" b="0" i="0">
                <a:solidFill>
                  <a:srgbClr val="000000"/>
                </a:solidFill>
              </a:defRPr>
            </a:pPr>
            <a:r>
              <a:rPr sz="1600" dirty="0"/>
              <a:t>Average employee age across departments clusters tightly between 35-40 years, indicating similar experience levels and career stages regardless of functional area.</a:t>
            </a:r>
          </a:p>
          <a:p>
            <a:pPr>
              <a:spcAft>
                <a:spcPts val="720"/>
              </a:spcAft>
              <a:defRPr sz="2000" b="1" i="0">
                <a:solidFill>
                  <a:srgbClr val="000000"/>
                </a:solidFill>
              </a:defRPr>
            </a:pPr>
            <a:r>
              <a:rPr sz="1600" dirty="0"/>
              <a:t>Department Analysis:</a:t>
            </a:r>
          </a:p>
          <a:p>
            <a:pPr lvl="1">
              <a:spcAft>
                <a:spcPts val="1440"/>
              </a:spcAft>
              <a:defRPr sz="1700" b="0" i="0">
                <a:solidFill>
                  <a:srgbClr val="000000"/>
                </a:solidFill>
              </a:defRPr>
            </a:pPr>
            <a:r>
              <a:rPr sz="1600" dirty="0"/>
              <a:t>- Consistent gender balance across all functions</a:t>
            </a:r>
          </a:p>
          <a:p>
            <a:pPr lvl="1">
              <a:spcAft>
                <a:spcPts val="1440"/>
              </a:spcAft>
              <a:defRPr sz="1700" b="0" i="0">
                <a:solidFill>
                  <a:srgbClr val="000000"/>
                </a:solidFill>
              </a:defRPr>
            </a:pPr>
            <a:r>
              <a:rPr sz="1600" dirty="0"/>
              <a:t>- Uniform age distribution (35-40 years average)</a:t>
            </a:r>
          </a:p>
          <a:p>
            <a:pPr lvl="1">
              <a:spcAft>
                <a:spcPts val="1440"/>
              </a:spcAft>
              <a:defRPr sz="1700" b="0" i="0">
                <a:solidFill>
                  <a:srgbClr val="000000"/>
                </a:solidFill>
              </a:defRPr>
            </a:pPr>
            <a:r>
              <a:rPr sz="1600" dirty="0"/>
              <a:t>- Engineering largest: ~4,000 employees</a:t>
            </a:r>
          </a:p>
          <a:p>
            <a:pPr lvl="1">
              <a:spcAft>
                <a:spcPts val="1440"/>
              </a:spcAft>
              <a:defRPr sz="1700" b="0" i="0">
                <a:solidFill>
                  <a:srgbClr val="000000"/>
                </a:solidFill>
              </a:defRPr>
            </a:pPr>
            <a:r>
              <a:rPr sz="1600" dirty="0"/>
              <a:t>- Accounting second: ~3,500 employees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solidFill>
                  <a:schemeClr val="bg1"/>
                </a:solidFill>
              </a:rPr>
              <a:t>Key Findings &amp; Recommendations</a:t>
            </a:r>
          </a:p>
        </p:txBody>
      </p:sp>
      <p:pic>
        <p:nvPicPr>
          <p:cNvPr id="3" name="Picture 2" descr="22052be8-ad75-47b8-83f8-36803365bcf7.png"/>
          <p:cNvPicPr>
            <a:picLocks noChangeAspect="1"/>
          </p:cNvPicPr>
          <p:nvPr/>
        </p:nvPicPr>
        <p:blipFill>
          <a:blip r:embed="rId3"/>
          <a:stretch>
            <a:fillRect/>
          </a:stretch>
        </p:blipFill>
        <p:spPr>
          <a:xfrm>
            <a:off x="5486400" y="2039112"/>
            <a:ext cx="3200400" cy="3200400"/>
          </a:xfrm>
          <a:prstGeom prst="rect">
            <a:avLst/>
          </a:prstGeom>
        </p:spPr>
      </p:pic>
      <p:sp>
        <p:nvSpPr>
          <p:cNvPr id="4" name="TextBox 3"/>
          <p:cNvSpPr txBox="1"/>
          <p:nvPr/>
        </p:nvSpPr>
        <p:spPr>
          <a:xfrm>
            <a:off x="457200" y="1600200"/>
            <a:ext cx="4892040" cy="4457631"/>
          </a:xfrm>
          <a:prstGeom prst="rect">
            <a:avLst/>
          </a:prstGeom>
          <a:noFill/>
        </p:spPr>
        <p:txBody>
          <a:bodyPr wrap="square">
            <a:spAutoFit/>
          </a:bodyPr>
          <a:lstStyle/>
          <a:p>
            <a:endParaRPr sz="1700" dirty="0">
              <a:solidFill>
                <a:schemeClr val="bg1"/>
              </a:solidFill>
            </a:endParaRPr>
          </a:p>
          <a:p>
            <a:pPr>
              <a:spcAft>
                <a:spcPts val="2880"/>
              </a:spcAft>
              <a:defRPr sz="2400" b="0" i="0">
                <a:solidFill>
                  <a:srgbClr val="F5F5F5"/>
                </a:solidFill>
              </a:defRPr>
            </a:pPr>
            <a:r>
              <a:rPr sz="1700" dirty="0">
                <a:solidFill>
                  <a:schemeClr val="bg1"/>
                </a:solidFill>
              </a:rPr>
              <a:t>- Strengths: Strong diversity, stable tenure (14.74 years)</a:t>
            </a:r>
          </a:p>
          <a:p>
            <a:pPr>
              <a:spcAft>
                <a:spcPts val="2880"/>
              </a:spcAft>
              <a:defRPr sz="2400" b="0" i="0">
                <a:solidFill>
                  <a:srgbClr val="F5F5F5"/>
                </a:solidFill>
              </a:defRPr>
            </a:pPr>
            <a:r>
              <a:rPr sz="1700" dirty="0">
                <a:solidFill>
                  <a:schemeClr val="bg1"/>
                </a:solidFill>
              </a:rPr>
              <a:t>- Concern: Rising termination rate (17.7%) requires intervention</a:t>
            </a:r>
          </a:p>
          <a:p>
            <a:pPr>
              <a:spcAft>
                <a:spcPts val="2880"/>
              </a:spcAft>
              <a:defRPr sz="2400" b="0" i="0">
                <a:solidFill>
                  <a:srgbClr val="F5F5F5"/>
                </a:solidFill>
              </a:defRPr>
            </a:pPr>
            <a:r>
              <a:rPr sz="1700" dirty="0">
                <a:solidFill>
                  <a:schemeClr val="bg1"/>
                </a:solidFill>
              </a:rPr>
              <a:t>- Priority: Retention programs for 7-12 year tenure employees</a:t>
            </a:r>
          </a:p>
          <a:p>
            <a:pPr>
              <a:spcAft>
                <a:spcPts val="2880"/>
              </a:spcAft>
              <a:defRPr sz="2400" b="0" i="0">
                <a:solidFill>
                  <a:srgbClr val="F5F5F5"/>
                </a:solidFill>
              </a:defRPr>
            </a:pPr>
            <a:r>
              <a:rPr sz="1700" dirty="0">
                <a:solidFill>
                  <a:schemeClr val="bg1"/>
                </a:solidFill>
              </a:rPr>
              <a:t>- Risk: Geographic over-concentration (82% in Ohio)</a:t>
            </a:r>
          </a:p>
          <a:p>
            <a:pPr>
              <a:spcAft>
                <a:spcPts val="2880"/>
              </a:spcAft>
              <a:defRPr sz="2400" b="0" i="0">
                <a:solidFill>
                  <a:srgbClr val="F5F5F5"/>
                </a:solidFill>
              </a:defRPr>
            </a:pPr>
            <a:r>
              <a:rPr sz="1700" dirty="0">
                <a:solidFill>
                  <a:schemeClr val="bg1"/>
                </a:solidFill>
              </a:rPr>
              <a:t>- Opportunity: Expand remote work beyond current 25%</a:t>
            </a:r>
          </a:p>
        </p:txBody>
      </p:sp>
    </p:spTree>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A7CC7-F4F0-82D0-0115-82EBF7491D4D}"/>
              </a:ext>
            </a:extLst>
          </p:cNvPr>
          <p:cNvSpPr>
            <a:spLocks noGrp="1"/>
          </p:cNvSpPr>
          <p:nvPr>
            <p:ph type="title"/>
          </p:nvPr>
        </p:nvSpPr>
        <p:spPr>
          <a:xfrm>
            <a:off x="565990" y="213789"/>
            <a:ext cx="7055380" cy="817282"/>
          </a:xfrm>
        </p:spPr>
        <p:txBody>
          <a:bodyPr>
            <a:normAutofit fontScale="90000"/>
          </a:bodyPr>
          <a:lstStyle/>
          <a:p>
            <a:pPr algn="ctr"/>
            <a:r>
              <a:rPr lang="en-US" sz="4400" b="1" dirty="0">
                <a:solidFill>
                  <a:schemeClr val="tx1"/>
                </a:solidFill>
                <a:latin typeface="Calibri" pitchFamily="34" charset="0"/>
                <a:ea typeface="Calibri" pitchFamily="34" charset="-122"/>
                <a:cs typeface="Calibri" pitchFamily="34" charset="-120"/>
              </a:rPr>
              <a:t>Conclusion</a:t>
            </a:r>
            <a:br>
              <a:rPr lang="en-US" sz="4400" dirty="0">
                <a:solidFill>
                  <a:schemeClr val="tx1"/>
                </a:solidFill>
              </a:rPr>
            </a:br>
            <a:endParaRPr lang="en-IN" dirty="0">
              <a:solidFill>
                <a:schemeClr val="tx1"/>
              </a:solidFill>
            </a:endParaRPr>
          </a:p>
        </p:txBody>
      </p:sp>
      <p:sp>
        <p:nvSpPr>
          <p:cNvPr id="4" name="TextBox 3">
            <a:extLst>
              <a:ext uri="{FF2B5EF4-FFF2-40B4-BE49-F238E27FC236}">
                <a16:creationId xmlns:a16="http://schemas.microsoft.com/office/drawing/2014/main" id="{911A8CFF-4F6C-0F7E-A6F9-3819A346E4A9}"/>
              </a:ext>
            </a:extLst>
          </p:cNvPr>
          <p:cNvSpPr txBox="1"/>
          <p:nvPr/>
        </p:nvSpPr>
        <p:spPr>
          <a:xfrm>
            <a:off x="838200" y="1270000"/>
            <a:ext cx="7213600" cy="1754326"/>
          </a:xfrm>
          <a:prstGeom prst="rect">
            <a:avLst/>
          </a:prstGeom>
          <a:noFill/>
        </p:spPr>
        <p:txBody>
          <a:bodyPr wrap="square" rtlCol="0">
            <a:spAutoFit/>
          </a:bodyPr>
          <a:lstStyle/>
          <a:p>
            <a:r>
              <a:rPr lang="en-US" dirty="0">
                <a:latin typeface="Calibri" pitchFamily="34" charset="0"/>
                <a:ea typeface="Calibri" pitchFamily="34" charset="-122"/>
                <a:cs typeface="Calibri" pitchFamily="34" charset="-120"/>
              </a:rPr>
              <a:t>This project successfully developed an interactive HR Analytics Dashboard using Microsoft Power BI, powered by 22,214 employee records from a MySQL database. Through ETL in Power Query, DAX-based KPIs, and rich visualizations, meaningful workforce insights were delivered across demographics, hiring trends, diversity, and geographic distribution.</a:t>
            </a:r>
            <a:endParaRPr lang="en-US" dirty="0"/>
          </a:p>
          <a:p>
            <a:endParaRPr lang="en-IN" dirty="0"/>
          </a:p>
        </p:txBody>
      </p:sp>
      <p:sp>
        <p:nvSpPr>
          <p:cNvPr id="5" name="Text 25">
            <a:extLst>
              <a:ext uri="{FF2B5EF4-FFF2-40B4-BE49-F238E27FC236}">
                <a16:creationId xmlns:a16="http://schemas.microsoft.com/office/drawing/2014/main" id="{AA2C39B0-F413-205B-B174-ACF99F0E35EF}"/>
              </a:ext>
            </a:extLst>
          </p:cNvPr>
          <p:cNvSpPr/>
          <p:nvPr/>
        </p:nvSpPr>
        <p:spPr>
          <a:xfrm>
            <a:off x="640080" y="3145536"/>
            <a:ext cx="7863840" cy="56692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5000"/>
              </a:lnSpc>
              <a:buNone/>
            </a:pPr>
            <a:r>
              <a:rPr lang="en-US" sz="1050" i="1" dirty="0">
                <a:latin typeface="Calibri" pitchFamily="34" charset="0"/>
                <a:ea typeface="Calibri" pitchFamily="34" charset="-122"/>
                <a:cs typeface="Calibri" pitchFamily="34" charset="-120"/>
              </a:rPr>
              <a:t>The Power BI dashboard serves as an ongoing strategic decision-support tool for workforce planning, DEI monitoring, hiring trend analysis, and evidence-based HR management.</a:t>
            </a:r>
            <a:endParaRPr lang="en-US" sz="1050" dirty="0"/>
          </a:p>
        </p:txBody>
      </p:sp>
      <p:sp>
        <p:nvSpPr>
          <p:cNvPr id="6" name="Text 27">
            <a:extLst>
              <a:ext uri="{FF2B5EF4-FFF2-40B4-BE49-F238E27FC236}">
                <a16:creationId xmlns:a16="http://schemas.microsoft.com/office/drawing/2014/main" id="{49A55AA5-2358-769D-FF9B-E695BDB06E17}"/>
              </a:ext>
            </a:extLst>
          </p:cNvPr>
          <p:cNvSpPr/>
          <p:nvPr/>
        </p:nvSpPr>
        <p:spPr>
          <a:xfrm>
            <a:off x="970280" y="4190322"/>
            <a:ext cx="6949440" cy="4754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latin typeface="Calibri" pitchFamily="34" charset="0"/>
                <a:ea typeface="Calibri" pitchFamily="34" charset="-122"/>
                <a:cs typeface="Calibri" pitchFamily="34" charset="-120"/>
              </a:rPr>
              <a:t>SQL  ·  Power Query  ·  DAX  ·  Microsoft Power BI  ·  HR Dark Theme</a:t>
            </a:r>
            <a:endParaRPr lang="en-US" sz="1200" dirty="0"/>
          </a:p>
        </p:txBody>
      </p:sp>
      <p:sp>
        <p:nvSpPr>
          <p:cNvPr id="7" name="Text 28">
            <a:extLst>
              <a:ext uri="{FF2B5EF4-FFF2-40B4-BE49-F238E27FC236}">
                <a16:creationId xmlns:a16="http://schemas.microsoft.com/office/drawing/2014/main" id="{7C564C28-DF24-356B-D87C-097EA01121E6}"/>
              </a:ext>
            </a:extLst>
          </p:cNvPr>
          <p:cNvSpPr/>
          <p:nvPr/>
        </p:nvSpPr>
        <p:spPr>
          <a:xfrm>
            <a:off x="457200" y="5036653"/>
            <a:ext cx="8229600"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i="1" dirty="0">
                <a:latin typeface="Calibri" pitchFamily="34" charset="0"/>
                <a:ea typeface="Calibri" pitchFamily="34" charset="-122"/>
                <a:cs typeface="Calibri" pitchFamily="34" charset="-120"/>
              </a:rPr>
              <a:t>PRDA – 03  |  HR Analytics Project  |  FY 2000–2020</a:t>
            </a:r>
            <a:endParaRPr lang="en-US" sz="900" dirty="0"/>
          </a:p>
        </p:txBody>
      </p:sp>
    </p:spTree>
    <p:extLst>
      <p:ext uri="{BB962C8B-B14F-4D97-AF65-F5344CB8AC3E}">
        <p14:creationId xmlns:p14="http://schemas.microsoft.com/office/powerpoint/2010/main" val="13487794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docProps/app.xml><?xml version="1.0" encoding="utf-8"?>
<Properties xmlns="http://schemas.openxmlformats.org/officeDocument/2006/extended-properties" xmlns:vt="http://schemas.openxmlformats.org/officeDocument/2006/docPropsVTypes">
  <Template/>
  <TotalTime>31</TotalTime>
  <Words>2180</Words>
  <Application>Microsoft Office PowerPoint</Application>
  <PresentationFormat>On-screen Show (4:3)</PresentationFormat>
  <Paragraphs>146</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Gothic</vt:lpstr>
      <vt:lpstr>Wingdings 3</vt:lpstr>
      <vt:lpstr>Wisp</vt:lpstr>
      <vt:lpstr>PowerPoint Presentation</vt:lpstr>
      <vt:lpstr>PowerPoint Presentation</vt:lpstr>
      <vt:lpstr>PowerPoint Presentation</vt:lpstr>
      <vt:lpstr>Key Workforce Metrics FY 2020</vt:lpstr>
      <vt:lpstr>Hiring Trends Analysis</vt:lpstr>
      <vt:lpstr>Hiring by Department</vt:lpstr>
      <vt:lpstr>Workforce Demographics</vt:lpstr>
      <vt:lpstr>Attrition Concerns</vt:lpstr>
      <vt:lpstr>Geographic Distribution</vt:lpstr>
      <vt:lpstr>Department Deep Dive</vt:lpstr>
      <vt:lpstr>Key Findings &amp; Recommendations</vt:lpstr>
      <vt:lpstr>Conclusion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Gnana Gurubaran</cp:lastModifiedBy>
  <cp:revision>5</cp:revision>
  <dcterms:created xsi:type="dcterms:W3CDTF">2013-01-27T09:14:16Z</dcterms:created>
  <dcterms:modified xsi:type="dcterms:W3CDTF">2026-09-17T21:14:57Z</dcterms:modified>
  <cp:category/>
</cp:coreProperties>
</file>